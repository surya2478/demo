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AI-assisted testing is not a pilot on a laptop. It is running in production on e&amp; internal infrastructure, with enterprise controls.
Production setup: containerised backend and web app, deployable to an air-gapped server. AI calls go through the enterprise AI service on the corporate network. Access is through corporate LDAP with role-based permissions; every action is audited, and usage is capped and reported per user. It is also secure by design: the application runs with limited system rights rather than administrator rights, so even if something went wrong it could not take over the server; and passwords and security keys are never stored inside the software package, they are supplied separately when it is deployed.
Test Assistant: six use cases covering the testing lifecycle, from requirement (BRD, PPM, Azure DevOps) through test cases, test data, visual tests, change impact and unit tests. Nothing AI-generated is used until a manager approves it.
Two separate knowledge bases: (1) the Test Case Generation KB, where teams upload project documents and generate test cases from them; (2) the Automation KB, a set of JSON objects we prepared for each application (app profile, verified selectors, journey flows) that tells the automation exactly where to go and what to click.
Automation Studio, delivered in Aug–Sep 2026: approved test cases become runnable scripts, and every run produces evidence (video, trace, screenshots). Failed tests are diagnosed and repaired automatically, and each repair is re-checked before it runs.
Proof point: in a controlled A/B test over 32 runs, AI refinement raised the share of test checks the system can actually verify from 27% to 61%.
[Add production adoption figures here if available: active users, test cases generated and approved to date. Pull them from the Assistant Report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workstreams, each building on what is already live.
1. Adoption in business value streams. The Knowledge Base already covers four e&amp; applications: the e&amp; UAE web portal (Consumer), the SMB app, the B2B Business Online portal, and e&amp; money. That makes those four value streams the natural Q4 pilots, because the AI is grounded in their real journeys from day one. The usage report gives us an adoption baseline. In early 2027 we scale out, and approved AI test cases become the default route for new BRDs in Azure DevOps.
2. Knowledge base establishment, covering two separate KBs. The Test Case Generation KB holds project documents: in Q4 we load BRDs and product documents for the pilot value streams, and in early 2027 extend it to new streams. The Automation KB is the JSON we prepared per application; it stops automation inventing URLs, products or screen elements. In Q4 we complete and verify it for the four apps; in early 2027 new applications come in through Application Discovery. Both get freshness checks and human approval on every update, because stale facts are the main risk.
3. Script automation. The pipeline from approved test case to script to run to self-heal exists today. Q4 turns it into routine regression for approved journeys. Two improvements make that practical. First, when a test fails today the result just says 'failed', and a tester has to investigate whether the application really has a bug or the automation itself went wrong (a changed button, a slow page, an environment outage). We will label every failure automatically, so teams only chase genuine defects. Second, converting approved test cases into precise automation steps is an AI step that currently handles one test case after another; we will process many at once, so a whole regression suite can be prepared in one go instead of case by case. In early 2027: scheduled and pipeline-triggered runs, and execution beyond Playwright (Katalon, Appium for mobile, which today are export-only).
Close on the measures. [Confirm owners, target numbers and dates before the town hall.]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ctr"/>
          <a:lstStyle/>
          <a:p>
            <a:pPr indent="0" marL="0">
              <a:buNone/>
            </a:pPr>
            <a:r>
              <a:rPr lang="en-US" sz="1200" b="1" spc="200" kern="0" dirty="0">
                <a:solidFill>
                  <a:srgbClr val="D71920"/>
                </a:solidFill>
                <a:latin typeface="Calibri" pitchFamily="34" charset="0"/>
                <a:ea typeface="Calibri" pitchFamily="34" charset="-122"/>
                <a:cs typeface="Calibri" pitchFamily="34" charset="-120"/>
              </a:rPr>
              <a:t>WHAT WE HAVE ACHIEVED  ·  UP TO Q3 2026</a:t>
            </a:r>
            <a:endParaRPr lang="en-US" sz="1200" dirty="0"/>
          </a:p>
        </p:txBody>
      </p:sp>
      <p:sp>
        <p:nvSpPr>
          <p:cNvPr id="3" name="Text 1"/>
          <p:cNvSpPr txBox="1"/>
          <p:nvPr/>
        </p:nvSpPr>
        <p:spPr>
          <a:xfrm>
            <a:off x="457200" y="594360"/>
            <a:ext cx="11247120" cy="594360"/>
          </a:xfrm>
          <a:prstGeom prst="rect">
            <a:avLst/>
          </a:prstGeom>
          <a:noFill/>
          <a:ln/>
        </p:spPr>
        <p:txBody>
          <a:bodyPr wrap="square" lIns="0" tIns="0" rIns="0" bIns="0" rtlCol="0" anchor="ctr"/>
          <a:lstStyle/>
          <a:p>
            <a:pPr indent="0" marL="0">
              <a:buNone/>
            </a:pPr>
            <a:r>
              <a:rPr lang="en-US" sz="3200" b="1" dirty="0">
                <a:solidFill>
                  <a:srgbClr val="1C1C1E"/>
                </a:solidFill>
                <a:latin typeface="Calibri" pitchFamily="34" charset="0"/>
                <a:ea typeface="Calibri" pitchFamily="34" charset="-122"/>
                <a:cs typeface="Calibri" pitchFamily="34" charset="-120"/>
              </a:rPr>
              <a:t>AI adoption in testing: live in production</a:t>
            </a:r>
            <a:endParaRPr lang="en-US" sz="3200" dirty="0"/>
          </a:p>
        </p:txBody>
      </p:sp>
      <p:sp>
        <p:nvSpPr>
          <p:cNvPr id="4" name="Shape 2"/>
          <p:cNvSpPr/>
          <p:nvPr/>
        </p:nvSpPr>
        <p:spPr>
          <a:xfrm>
            <a:off x="457200" y="1417320"/>
            <a:ext cx="2331720" cy="1005840"/>
          </a:xfrm>
          <a:prstGeom prst="roundRect">
            <a:avLst>
              <a:gd name="adj" fmla="val 7273"/>
            </a:avLst>
          </a:prstGeom>
          <a:solidFill>
            <a:srgbClr val="F4F5F7"/>
          </a:solidFill>
          <a:ln w="12700">
            <a:solidFill>
              <a:srgbClr val="F4F5F7"/>
            </a:solidFill>
            <a:prstDash val="solid"/>
          </a:ln>
        </p:spPr>
      </p:sp>
      <p:sp>
        <p:nvSpPr>
          <p:cNvPr id="5" name="Text 3"/>
          <p:cNvSpPr txBox="1"/>
          <p:nvPr/>
        </p:nvSpPr>
        <p:spPr>
          <a:xfrm>
            <a:off x="640080" y="1481328"/>
            <a:ext cx="2057400" cy="502920"/>
          </a:xfrm>
          <a:prstGeom prst="rect">
            <a:avLst/>
          </a:prstGeom>
          <a:noFill/>
          <a:ln/>
        </p:spPr>
        <p:txBody>
          <a:bodyPr wrap="square" lIns="0" tIns="0" rIns="0" bIns="0" rtlCol="0" anchor="ctr"/>
          <a:lstStyle/>
          <a:p>
            <a:pPr indent="0" marL="0">
              <a:buNone/>
            </a:pPr>
            <a:r>
              <a:rPr lang="en-US" sz="2800" b="1" dirty="0">
                <a:solidFill>
                  <a:srgbClr val="D71920"/>
                </a:solidFill>
                <a:latin typeface="Calibri" pitchFamily="34" charset="0"/>
                <a:ea typeface="Calibri" pitchFamily="34" charset="-122"/>
                <a:cs typeface="Calibri" pitchFamily="34" charset="-120"/>
              </a:rPr>
              <a:t>6</a:t>
            </a:r>
            <a:endParaRPr lang="en-US" sz="2800" dirty="0"/>
          </a:p>
        </p:txBody>
      </p:sp>
      <p:sp>
        <p:nvSpPr>
          <p:cNvPr id="6" name="Text 4"/>
          <p:cNvSpPr txBox="1"/>
          <p:nvPr/>
        </p:nvSpPr>
        <p:spPr>
          <a:xfrm>
            <a:off x="640080" y="1965960"/>
            <a:ext cx="2057400" cy="411480"/>
          </a:xfrm>
          <a:prstGeom prst="rect">
            <a:avLst/>
          </a:prstGeom>
          <a:noFill/>
          <a:ln/>
        </p:spPr>
        <p:txBody>
          <a:bodyPr wrap="square" lIns="0" tIns="0" rIns="0" bIns="0" rtlCol="0" anchor="t"/>
          <a:lstStyle/>
          <a:p>
            <a:pPr indent="0" marL="0">
              <a:buNone/>
            </a:pPr>
            <a:r>
              <a:rPr lang="en-US" sz="1100" dirty="0">
                <a:solidFill>
                  <a:srgbClr val="3A3A3C"/>
                </a:solidFill>
                <a:latin typeface="Calibri" pitchFamily="34" charset="0"/>
                <a:ea typeface="Calibri" pitchFamily="34" charset="-122"/>
                <a:cs typeface="Calibri" pitchFamily="34" charset="-120"/>
              </a:rPr>
              <a:t>AI testing use cases</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live for QA teams</a:t>
            </a:r>
            <a:endParaRPr lang="en-US" sz="1100" dirty="0"/>
          </a:p>
        </p:txBody>
      </p:sp>
      <p:sp>
        <p:nvSpPr>
          <p:cNvPr id="7" name="Shape 5"/>
          <p:cNvSpPr/>
          <p:nvPr/>
        </p:nvSpPr>
        <p:spPr>
          <a:xfrm>
            <a:off x="2971800" y="1417320"/>
            <a:ext cx="2514600" cy="1005840"/>
          </a:xfrm>
          <a:prstGeom prst="roundRect">
            <a:avLst>
              <a:gd name="adj" fmla="val 7273"/>
            </a:avLst>
          </a:prstGeom>
          <a:solidFill>
            <a:srgbClr val="F4F5F7"/>
          </a:solidFill>
          <a:ln w="12700">
            <a:solidFill>
              <a:srgbClr val="F4F5F7"/>
            </a:solidFill>
            <a:prstDash val="solid"/>
          </a:ln>
        </p:spPr>
      </p:sp>
      <p:sp>
        <p:nvSpPr>
          <p:cNvPr id="8" name="Text 6"/>
          <p:cNvSpPr txBox="1"/>
          <p:nvPr/>
        </p:nvSpPr>
        <p:spPr>
          <a:xfrm>
            <a:off x="3154680" y="1481328"/>
            <a:ext cx="2240280" cy="502920"/>
          </a:xfrm>
          <a:prstGeom prst="rect">
            <a:avLst/>
          </a:prstGeom>
          <a:noFill/>
          <a:ln/>
        </p:spPr>
        <p:txBody>
          <a:bodyPr wrap="square" lIns="0" tIns="0" rIns="0" bIns="0" rtlCol="0" anchor="ctr"/>
          <a:lstStyle/>
          <a:p>
            <a:pPr indent="0" marL="0">
              <a:buNone/>
            </a:pPr>
            <a:r>
              <a:rPr lang="en-US" sz="2800" b="1" dirty="0">
                <a:solidFill>
                  <a:srgbClr val="D71920"/>
                </a:solidFill>
                <a:latin typeface="Calibri" pitchFamily="34" charset="0"/>
                <a:ea typeface="Calibri" pitchFamily="34" charset="-122"/>
                <a:cs typeface="Calibri" pitchFamily="34" charset="-120"/>
              </a:rPr>
              <a:t>4</a:t>
            </a:r>
            <a:endParaRPr lang="en-US" sz="2800" dirty="0"/>
          </a:p>
        </p:txBody>
      </p:sp>
      <p:sp>
        <p:nvSpPr>
          <p:cNvPr id="9" name="Text 7"/>
          <p:cNvSpPr txBox="1"/>
          <p:nvPr/>
        </p:nvSpPr>
        <p:spPr>
          <a:xfrm>
            <a:off x="3154680" y="1965960"/>
            <a:ext cx="2240280" cy="411480"/>
          </a:xfrm>
          <a:prstGeom prst="rect">
            <a:avLst/>
          </a:prstGeom>
          <a:noFill/>
          <a:ln/>
        </p:spPr>
        <p:txBody>
          <a:bodyPr wrap="square" lIns="0" tIns="0" rIns="0" bIns="0" rtlCol="0" anchor="t"/>
          <a:lstStyle/>
          <a:p>
            <a:pPr indent="0" marL="0">
              <a:buNone/>
            </a:pPr>
            <a:r>
              <a:rPr lang="en-US" sz="1100" dirty="0">
                <a:solidFill>
                  <a:srgbClr val="3A3A3C"/>
                </a:solidFill>
                <a:latin typeface="Calibri" pitchFamily="34" charset="0"/>
                <a:ea typeface="Calibri" pitchFamily="34" charset="-122"/>
                <a:cs typeface="Calibri" pitchFamily="34" charset="-120"/>
              </a:rPr>
              <a:t>e&amp; applications modelled</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in the Automation KB</a:t>
            </a:r>
            <a:endParaRPr lang="en-US" sz="1100" dirty="0"/>
          </a:p>
        </p:txBody>
      </p:sp>
      <p:sp>
        <p:nvSpPr>
          <p:cNvPr id="10" name="Shape 8"/>
          <p:cNvSpPr/>
          <p:nvPr/>
        </p:nvSpPr>
        <p:spPr>
          <a:xfrm>
            <a:off x="5669280" y="1417320"/>
            <a:ext cx="2514600" cy="1005840"/>
          </a:xfrm>
          <a:prstGeom prst="roundRect">
            <a:avLst>
              <a:gd name="adj" fmla="val 7273"/>
            </a:avLst>
          </a:prstGeom>
          <a:solidFill>
            <a:srgbClr val="F4F5F7"/>
          </a:solidFill>
          <a:ln w="12700">
            <a:solidFill>
              <a:srgbClr val="F4F5F7"/>
            </a:solidFill>
            <a:prstDash val="solid"/>
          </a:ln>
        </p:spPr>
      </p:sp>
      <p:sp>
        <p:nvSpPr>
          <p:cNvPr id="11" name="Text 9"/>
          <p:cNvSpPr txBox="1"/>
          <p:nvPr/>
        </p:nvSpPr>
        <p:spPr>
          <a:xfrm>
            <a:off x="5852160" y="1481328"/>
            <a:ext cx="2240280" cy="502920"/>
          </a:xfrm>
          <a:prstGeom prst="rect">
            <a:avLst/>
          </a:prstGeom>
          <a:noFill/>
          <a:ln/>
        </p:spPr>
        <p:txBody>
          <a:bodyPr wrap="square" lIns="0" tIns="0" rIns="0" bIns="0" rtlCol="0" anchor="ctr"/>
          <a:lstStyle/>
          <a:p>
            <a:pPr indent="0" marL="0">
              <a:buNone/>
            </a:pPr>
            <a:r>
              <a:rPr lang="en-US" sz="2800" b="1" dirty="0">
                <a:solidFill>
                  <a:srgbClr val="D71920"/>
                </a:solidFill>
                <a:latin typeface="Calibri" pitchFamily="34" charset="0"/>
                <a:ea typeface="Calibri" pitchFamily="34" charset="-122"/>
                <a:cs typeface="Calibri" pitchFamily="34" charset="-120"/>
              </a:rPr>
              <a:t>10</a:t>
            </a:r>
            <a:endParaRPr lang="en-US" sz="2800" dirty="0"/>
          </a:p>
        </p:txBody>
      </p:sp>
      <p:sp>
        <p:nvSpPr>
          <p:cNvPr id="12" name="Text 10"/>
          <p:cNvSpPr txBox="1"/>
          <p:nvPr/>
        </p:nvSpPr>
        <p:spPr>
          <a:xfrm>
            <a:off x="5852160" y="1965960"/>
            <a:ext cx="2240280" cy="411480"/>
          </a:xfrm>
          <a:prstGeom prst="rect">
            <a:avLst/>
          </a:prstGeom>
          <a:noFill/>
          <a:ln/>
        </p:spPr>
        <p:txBody>
          <a:bodyPr wrap="square" lIns="0" tIns="0" rIns="0" bIns="0" rtlCol="0" anchor="t"/>
          <a:lstStyle/>
          <a:p>
            <a:pPr indent="0" marL="0">
              <a:buNone/>
            </a:pPr>
            <a:r>
              <a:rPr lang="en-US" sz="1100" dirty="0">
                <a:solidFill>
                  <a:srgbClr val="3A3A3C"/>
                </a:solidFill>
                <a:latin typeface="Calibri" pitchFamily="34" charset="0"/>
                <a:ea typeface="Calibri" pitchFamily="34" charset="-122"/>
                <a:cs typeface="Calibri" pitchFamily="34" charset="-120"/>
              </a:rPr>
              <a:t>journey flows prepared</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as Automation KB JSON</a:t>
            </a:r>
            <a:endParaRPr lang="en-US" sz="1100" dirty="0"/>
          </a:p>
        </p:txBody>
      </p:sp>
      <p:sp>
        <p:nvSpPr>
          <p:cNvPr id="13" name="Shape 11"/>
          <p:cNvSpPr/>
          <p:nvPr/>
        </p:nvSpPr>
        <p:spPr>
          <a:xfrm>
            <a:off x="8366760" y="1417320"/>
            <a:ext cx="3337560" cy="1005840"/>
          </a:xfrm>
          <a:prstGeom prst="roundRect">
            <a:avLst>
              <a:gd name="adj" fmla="val 7273"/>
            </a:avLst>
          </a:prstGeom>
          <a:solidFill>
            <a:srgbClr val="F4F5F7"/>
          </a:solidFill>
          <a:ln w="12700">
            <a:solidFill>
              <a:srgbClr val="F4F5F7"/>
            </a:solidFill>
            <a:prstDash val="solid"/>
          </a:ln>
        </p:spPr>
      </p:sp>
      <p:sp>
        <p:nvSpPr>
          <p:cNvPr id="14" name="Text 12"/>
          <p:cNvSpPr txBox="1"/>
          <p:nvPr/>
        </p:nvSpPr>
        <p:spPr>
          <a:xfrm>
            <a:off x="8549640" y="1481328"/>
            <a:ext cx="3063240" cy="502920"/>
          </a:xfrm>
          <a:prstGeom prst="rect">
            <a:avLst/>
          </a:prstGeom>
          <a:noFill/>
          <a:ln/>
        </p:spPr>
        <p:txBody>
          <a:bodyPr wrap="square" lIns="0" tIns="0" rIns="0" bIns="0" rtlCol="0" anchor="ctr"/>
          <a:lstStyle/>
          <a:p>
            <a:pPr indent="0" marL="0">
              <a:buNone/>
            </a:pPr>
            <a:r>
              <a:rPr lang="en-US" sz="2800" b="1" dirty="0">
                <a:solidFill>
                  <a:srgbClr val="D71920"/>
                </a:solidFill>
                <a:latin typeface="Calibri" pitchFamily="34" charset="0"/>
                <a:ea typeface="Calibri" pitchFamily="34" charset="-122"/>
                <a:cs typeface="Calibri" pitchFamily="34" charset="-120"/>
              </a:rPr>
              <a:t>27% → 61%</a:t>
            </a:r>
            <a:endParaRPr lang="en-US" sz="2800" dirty="0"/>
          </a:p>
        </p:txBody>
      </p:sp>
      <p:sp>
        <p:nvSpPr>
          <p:cNvPr id="15" name="Text 13"/>
          <p:cNvSpPr txBox="1"/>
          <p:nvPr/>
        </p:nvSpPr>
        <p:spPr>
          <a:xfrm>
            <a:off x="8549640" y="1965960"/>
            <a:ext cx="3063240" cy="411480"/>
          </a:xfrm>
          <a:prstGeom prst="rect">
            <a:avLst/>
          </a:prstGeom>
          <a:noFill/>
          <a:ln/>
        </p:spPr>
        <p:txBody>
          <a:bodyPr wrap="square" lIns="0" tIns="0" rIns="0" bIns="0" rtlCol="0" anchor="t"/>
          <a:lstStyle/>
          <a:p>
            <a:pPr indent="0" marL="0">
              <a:buNone/>
            </a:pPr>
            <a:r>
              <a:rPr lang="en-US" sz="1100" dirty="0">
                <a:solidFill>
                  <a:srgbClr val="3A3A3C"/>
                </a:solidFill>
                <a:latin typeface="Calibri" pitchFamily="34" charset="0"/>
                <a:ea typeface="Calibri" pitchFamily="34" charset="-122"/>
                <a:cs typeface="Calibri" pitchFamily="34" charset="-120"/>
              </a:rPr>
              <a:t>test checks the system can verify</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after AI refinement (A/B, 32 runs)</a:t>
            </a:r>
            <a:endParaRPr lang="en-US" sz="1100" dirty="0"/>
          </a:p>
        </p:txBody>
      </p:sp>
      <p:sp>
        <p:nvSpPr>
          <p:cNvPr id="16" name="Shape 14"/>
          <p:cNvSpPr/>
          <p:nvPr/>
        </p:nvSpPr>
        <p:spPr>
          <a:xfrm>
            <a:off x="457200" y="2651760"/>
            <a:ext cx="3630168" cy="3401568"/>
          </a:xfrm>
          <a:prstGeom prst="roundRect">
            <a:avLst>
              <a:gd name="adj" fmla="val 2151"/>
            </a:avLst>
          </a:prstGeom>
          <a:solidFill>
            <a:srgbClr val="FFFFFF"/>
          </a:solidFill>
          <a:ln w="12700">
            <a:solidFill>
              <a:srgbClr val="E3E4E8"/>
            </a:solidFill>
            <a:prstDash val="solid"/>
          </a:ln>
        </p:spPr>
      </p:sp>
      <p:sp>
        <p:nvSpPr>
          <p:cNvPr id="17" name="Shape 15"/>
          <p:cNvSpPr/>
          <p:nvPr/>
        </p:nvSpPr>
        <p:spPr>
          <a:xfrm>
            <a:off x="685800" y="2852928"/>
            <a:ext cx="457200" cy="457200"/>
          </a:xfrm>
          <a:prstGeom prst="ellipse">
            <a:avLst/>
          </a:prstGeom>
          <a:solidFill>
            <a:srgbClr val="FBE9EA"/>
          </a:solidFill>
          <a:ln w="12700">
            <a:solidFill>
              <a:srgbClr val="FBE9EA"/>
            </a:solidFill>
            <a:prstDash val="solid"/>
          </a:ln>
        </p:spPr>
      </p:sp>
      <p:pic>
        <p:nvPicPr>
          <p:cNvPr id="18" name="Image 0" descr="preencoded.png">    </p:cNvPr>
          <p:cNvPicPr>
            <a:picLocks noChangeAspect="1"/>
          </p:cNvPicPr>
          <p:nvPr/>
        </p:nvPicPr>
        <p:blipFill>
          <a:blip r:embed="rId1"/>
          <a:stretch>
            <a:fillRect/>
          </a:stretch>
        </p:blipFill>
        <p:spPr>
          <a:xfrm>
            <a:off x="804672" y="2971800"/>
            <a:ext cx="219456" cy="219456"/>
          </a:xfrm>
          <a:prstGeom prst="rect">
            <a:avLst/>
          </a:prstGeom>
        </p:spPr>
      </p:pic>
      <p:sp>
        <p:nvSpPr>
          <p:cNvPr id="19" name="Text 16"/>
          <p:cNvSpPr txBox="1"/>
          <p:nvPr/>
        </p:nvSpPr>
        <p:spPr>
          <a:xfrm>
            <a:off x="1261872" y="2852928"/>
            <a:ext cx="2670048" cy="457200"/>
          </a:xfrm>
          <a:prstGeom prst="rect">
            <a:avLst/>
          </a:prstGeom>
          <a:noFill/>
          <a:ln/>
        </p:spPr>
        <p:txBody>
          <a:bodyPr wrap="square" lIns="0" tIns="0" rIns="0" bIns="0" rtlCol="0" anchor="ctr"/>
          <a:lstStyle/>
          <a:p>
            <a:pPr indent="0" marL="0">
              <a:buNone/>
            </a:pPr>
            <a:r>
              <a:rPr lang="en-US" sz="1500" b="1" dirty="0">
                <a:solidFill>
                  <a:srgbClr val="1C1C1E"/>
                </a:solidFill>
                <a:latin typeface="Calibri" pitchFamily="34" charset="0"/>
                <a:ea typeface="Calibri" pitchFamily="34" charset="-122"/>
                <a:cs typeface="Calibri" pitchFamily="34" charset="-120"/>
              </a:rPr>
              <a:t>Production setup</a:t>
            </a:r>
            <a:endParaRPr lang="en-US" sz="1500" dirty="0"/>
          </a:p>
        </p:txBody>
      </p:sp>
      <p:sp>
        <p:nvSpPr>
          <p:cNvPr id="20" name="Text 17"/>
          <p:cNvSpPr txBox="1"/>
          <p:nvPr/>
        </p:nvSpPr>
        <p:spPr>
          <a:xfrm>
            <a:off x="658368" y="3474720"/>
            <a:ext cx="3264408" cy="2441448"/>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3A3A3C"/>
                </a:solidFill>
                <a:latin typeface="Calibri" pitchFamily="34" charset="0"/>
                <a:ea typeface="Calibri" pitchFamily="34" charset="-122"/>
                <a:cs typeface="Calibri" pitchFamily="34" charset="-120"/>
              </a:rPr>
              <a:t>Containerised platform on e&amp; internal infrastructure; deployable air-gapped</a:t>
            </a:r>
            <a:endParaRPr lang="en-US" sz="1150" dirty="0"/>
          </a:p>
          <a:p>
            <a:pPr marL="152400" indent="-152400">
              <a:spcAft>
                <a:spcPts val="500"/>
              </a:spcAft>
              <a:buSzPct val="100000"/>
              <a:buChar char="•"/>
            </a:pPr>
            <a:r>
              <a:rPr lang="en-US" sz="1150" dirty="0">
                <a:solidFill>
                  <a:srgbClr val="3A3A3C"/>
                </a:solidFill>
                <a:latin typeface="Calibri" pitchFamily="34" charset="0"/>
                <a:ea typeface="Calibri" pitchFamily="34" charset="-122"/>
                <a:cs typeface="Calibri" pitchFamily="34" charset="-120"/>
              </a:rPr>
              <a:t>AI served via the enterprise AI service on the corporate network</a:t>
            </a:r>
            <a:endParaRPr lang="en-US" sz="1150" dirty="0"/>
          </a:p>
          <a:p>
            <a:pPr marL="152400" indent="-152400">
              <a:spcAft>
                <a:spcPts val="500"/>
              </a:spcAft>
              <a:buSzPct val="100000"/>
              <a:buChar char="•"/>
            </a:pPr>
            <a:r>
              <a:rPr lang="en-US" sz="1150" dirty="0">
                <a:solidFill>
                  <a:srgbClr val="3A3A3C"/>
                </a:solidFill>
                <a:latin typeface="Calibri" pitchFamily="34" charset="0"/>
                <a:ea typeface="Calibri" pitchFamily="34" charset="-122"/>
                <a:cs typeface="Calibri" pitchFamily="34" charset="-120"/>
              </a:rPr>
              <a:t>Corporate LDAP sign-in with role-based access</a:t>
            </a:r>
            <a:endParaRPr lang="en-US" sz="1150" dirty="0"/>
          </a:p>
          <a:p>
            <a:pPr marL="152400" indent="-152400">
              <a:spcAft>
                <a:spcPts val="500"/>
              </a:spcAft>
              <a:buSzPct val="100000"/>
              <a:buChar char="•"/>
            </a:pPr>
            <a:r>
              <a:rPr lang="en-US" sz="1150" dirty="0">
                <a:solidFill>
                  <a:srgbClr val="3A3A3C"/>
                </a:solidFill>
                <a:latin typeface="Calibri" pitchFamily="34" charset="0"/>
                <a:ea typeface="Calibri" pitchFamily="34" charset="-122"/>
                <a:cs typeface="Calibri" pitchFamily="34" charset="-120"/>
              </a:rPr>
              <a:t>Full audit trail, session control, per-user usage quotas and time slots</a:t>
            </a:r>
            <a:endParaRPr lang="en-US" sz="1150" dirty="0"/>
          </a:p>
          <a:p>
            <a:pPr marL="152400" indent="-152400">
              <a:spcAft>
                <a:spcPts val="500"/>
              </a:spcAft>
              <a:buSzPct val="100000"/>
              <a:buChar char="•"/>
            </a:pPr>
            <a:r>
              <a:rPr lang="en-US" sz="1150" dirty="0">
                <a:solidFill>
                  <a:srgbClr val="3A3A3C"/>
                </a:solidFill>
                <a:latin typeface="Calibri" pitchFamily="34" charset="0"/>
                <a:ea typeface="Calibri" pitchFamily="34" charset="-122"/>
                <a:cs typeface="Calibri" pitchFamily="34" charset="-120"/>
              </a:rPr>
              <a:t>Usage report: requests and AI token consumption per user</a:t>
            </a:r>
            <a:endParaRPr lang="en-US" sz="1150" dirty="0"/>
          </a:p>
          <a:p>
            <a:pPr marL="152400" indent="-152400">
              <a:spcAft>
                <a:spcPts val="500"/>
              </a:spcAft>
              <a:buSzPct val="100000"/>
              <a:buChar char="•"/>
            </a:pPr>
            <a:r>
              <a:rPr lang="en-US" sz="1150" dirty="0">
                <a:solidFill>
                  <a:srgbClr val="3A3A3C"/>
                </a:solidFill>
                <a:latin typeface="Calibri" pitchFamily="34" charset="0"/>
                <a:ea typeface="Calibri" pitchFamily="34" charset="-122"/>
                <a:cs typeface="Calibri" pitchFamily="34" charset="-120"/>
              </a:rPr>
              <a:t>Secure by design: limited system rights, no passwords stored inside the app</a:t>
            </a:r>
            <a:endParaRPr lang="en-US" sz="1150" dirty="0"/>
          </a:p>
        </p:txBody>
      </p:sp>
      <p:sp>
        <p:nvSpPr>
          <p:cNvPr id="21" name="Shape 18"/>
          <p:cNvSpPr/>
          <p:nvPr/>
        </p:nvSpPr>
        <p:spPr>
          <a:xfrm>
            <a:off x="4270248" y="2651760"/>
            <a:ext cx="3630168" cy="3401568"/>
          </a:xfrm>
          <a:prstGeom prst="roundRect">
            <a:avLst>
              <a:gd name="adj" fmla="val 2151"/>
            </a:avLst>
          </a:prstGeom>
          <a:solidFill>
            <a:srgbClr val="FFFFFF"/>
          </a:solidFill>
          <a:ln w="12700">
            <a:solidFill>
              <a:srgbClr val="E3E4E8"/>
            </a:solidFill>
            <a:prstDash val="solid"/>
          </a:ln>
        </p:spPr>
      </p:sp>
      <p:sp>
        <p:nvSpPr>
          <p:cNvPr id="22" name="Shape 19"/>
          <p:cNvSpPr/>
          <p:nvPr/>
        </p:nvSpPr>
        <p:spPr>
          <a:xfrm>
            <a:off x="4498848" y="2852928"/>
            <a:ext cx="457200" cy="457200"/>
          </a:xfrm>
          <a:prstGeom prst="ellipse">
            <a:avLst/>
          </a:prstGeom>
          <a:solidFill>
            <a:srgbClr val="FBE9EA"/>
          </a:solidFill>
          <a:ln w="12700">
            <a:solidFill>
              <a:srgbClr val="FBE9EA"/>
            </a:solidFill>
            <a:prstDash val="solid"/>
          </a:ln>
        </p:spPr>
      </p:sp>
      <p:pic>
        <p:nvPicPr>
          <p:cNvPr id="23" name="Image 1" descr="preencoded.png">    </p:cNvPr>
          <p:cNvPicPr>
            <a:picLocks noChangeAspect="1"/>
          </p:cNvPicPr>
          <p:nvPr/>
        </p:nvPicPr>
        <p:blipFill>
          <a:blip r:embed="rId2"/>
          <a:stretch>
            <a:fillRect/>
          </a:stretch>
        </p:blipFill>
        <p:spPr>
          <a:xfrm>
            <a:off x="4617720" y="2971800"/>
            <a:ext cx="219456" cy="219456"/>
          </a:xfrm>
          <a:prstGeom prst="rect">
            <a:avLst/>
          </a:prstGeom>
        </p:spPr>
      </p:pic>
      <p:sp>
        <p:nvSpPr>
          <p:cNvPr id="24" name="Text 20"/>
          <p:cNvSpPr txBox="1"/>
          <p:nvPr/>
        </p:nvSpPr>
        <p:spPr>
          <a:xfrm>
            <a:off x="5074920" y="2852928"/>
            <a:ext cx="2670048" cy="457200"/>
          </a:xfrm>
          <a:prstGeom prst="rect">
            <a:avLst/>
          </a:prstGeom>
          <a:noFill/>
          <a:ln/>
        </p:spPr>
        <p:txBody>
          <a:bodyPr wrap="square" lIns="0" tIns="0" rIns="0" bIns="0" rtlCol="0" anchor="ctr"/>
          <a:lstStyle/>
          <a:p>
            <a:pPr indent="0" marL="0">
              <a:buNone/>
            </a:pPr>
            <a:r>
              <a:rPr lang="en-US" sz="1500" b="1" dirty="0">
                <a:solidFill>
                  <a:srgbClr val="1C1C1E"/>
                </a:solidFill>
                <a:latin typeface="Calibri" pitchFamily="34" charset="0"/>
                <a:ea typeface="Calibri" pitchFamily="34" charset="-122"/>
                <a:cs typeface="Calibri" pitchFamily="34" charset="-120"/>
              </a:rPr>
              <a:t>AI Testing Assistant: use cases</a:t>
            </a:r>
            <a:endParaRPr lang="en-US" sz="1500" dirty="0"/>
          </a:p>
        </p:txBody>
      </p:sp>
      <p:sp>
        <p:nvSpPr>
          <p:cNvPr id="25" name="Text 21"/>
          <p:cNvSpPr txBox="1"/>
          <p:nvPr/>
        </p:nvSpPr>
        <p:spPr>
          <a:xfrm>
            <a:off x="4471416" y="3474720"/>
            <a:ext cx="3264408" cy="2441448"/>
          </a:xfrm>
          <a:prstGeom prst="rect">
            <a:avLst/>
          </a:prstGeom>
          <a:noFill/>
          <a:ln/>
        </p:spPr>
        <p:txBody>
          <a:bodyPr wrap="square" lIns="0" tIns="0" rIns="0" bIns="0" rtlCol="0" anchor="t"/>
          <a:lstStyle/>
          <a:p>
            <a:pPr marL="152400" indent="-152400">
              <a:spcAft>
                <a:spcPts val="500"/>
              </a:spcAft>
              <a:buSzPct val="100000"/>
              <a:buChar char="•"/>
            </a:pPr>
            <a:r>
              <a:rPr lang="en-US" sz="1150" b="1" dirty="0">
                <a:solidFill>
                  <a:srgbClr val="3A3A3C"/>
                </a:solidFill>
                <a:latin typeface="Calibri" pitchFamily="34" charset="0"/>
                <a:ea typeface="Calibri" pitchFamily="34" charset="-122"/>
                <a:cs typeface="Calibri" pitchFamily="34" charset="-120"/>
              </a:rPr>
              <a:t>Test cases from BRDs </a:t>
            </a:r>
            <a:pPr indent="0" marL="0">
              <a:spcAft>
                <a:spcPts val="500"/>
              </a:spcAft>
              <a:buNone/>
            </a:pPr>
            <a:r>
              <a:rPr lang="en-US" sz="1150" dirty="0">
                <a:solidFill>
                  <a:srgbClr val="3A3A3C"/>
                </a:solidFill>
                <a:latin typeface="Calibri" pitchFamily="34" charset="0"/>
                <a:ea typeface="Calibri" pitchFamily="34" charset="-122"/>
                <a:cs typeface="Calibri" pitchFamily="34" charset="-120"/>
              </a:rPr>
              <a:t>(text, PPM ID, Azure DevOps)</a:t>
            </a:r>
            <a:endParaRPr lang="en-US" sz="1150" dirty="0"/>
          </a:p>
          <a:p>
            <a:pPr marL="152400" indent="-152400">
              <a:spcAft>
                <a:spcPts val="500"/>
              </a:spcAft>
              <a:buSzPct val="100000"/>
              <a:buChar char="•"/>
            </a:pPr>
            <a:r>
              <a:rPr lang="en-US" sz="1150" b="1" dirty="0">
                <a:solidFill>
                  <a:srgbClr val="3A3A3C"/>
                </a:solidFill>
                <a:latin typeface="Calibri" pitchFamily="34" charset="0"/>
                <a:ea typeface="Calibri" pitchFamily="34" charset="-122"/>
                <a:cs typeface="Calibri" pitchFamily="34" charset="-120"/>
              </a:rPr>
              <a:t>Visual testing: </a:t>
            </a:r>
            <a:pPr indent="0" marL="0">
              <a:spcAft>
                <a:spcPts val="500"/>
              </a:spcAft>
              <a:buNone/>
            </a:pPr>
            <a:r>
              <a:rPr lang="en-US" sz="1150" dirty="0">
                <a:solidFill>
                  <a:srgbClr val="3A3A3C"/>
                </a:solidFill>
                <a:latin typeface="Calibri" pitchFamily="34" charset="0"/>
                <a:ea typeface="Calibri" pitchFamily="34" charset="-122"/>
                <a:cs typeface="Calibri" pitchFamily="34" charset="-120"/>
              </a:rPr>
              <a:t>test cases from screens and images</a:t>
            </a:r>
            <a:endParaRPr lang="en-US" sz="1150" dirty="0"/>
          </a:p>
          <a:p>
            <a:pPr marL="152400" indent="-152400">
              <a:spcAft>
                <a:spcPts val="500"/>
              </a:spcAft>
              <a:buSzPct val="100000"/>
              <a:buChar char="•"/>
            </a:pPr>
            <a:r>
              <a:rPr lang="en-US" sz="1150" b="1" dirty="0">
                <a:solidFill>
                  <a:srgbClr val="3A3A3C"/>
                </a:solidFill>
                <a:latin typeface="Calibri" pitchFamily="34" charset="0"/>
                <a:ea typeface="Calibri" pitchFamily="34" charset="-122"/>
                <a:cs typeface="Calibri" pitchFamily="34" charset="-120"/>
              </a:rPr>
              <a:t>Test data </a:t>
            </a:r>
            <a:pPr indent="0" marL="0">
              <a:spcAft>
                <a:spcPts val="500"/>
              </a:spcAft>
              <a:buNone/>
            </a:pPr>
            <a:r>
              <a:rPr lang="en-US" sz="1150" dirty="0">
                <a:solidFill>
                  <a:srgbClr val="3A3A3C"/>
                </a:solidFill>
                <a:latin typeface="Calibri" pitchFamily="34" charset="0"/>
                <a:ea typeface="Calibri" pitchFamily="34" charset="-122"/>
                <a:cs typeface="Calibri" pitchFamily="34" charset="-120"/>
              </a:rPr>
              <a:t>generation</a:t>
            </a:r>
            <a:endParaRPr lang="en-US" sz="1150" dirty="0"/>
          </a:p>
          <a:p>
            <a:pPr marL="152400" indent="-152400">
              <a:spcAft>
                <a:spcPts val="500"/>
              </a:spcAft>
              <a:buSzPct val="100000"/>
              <a:buChar char="•"/>
            </a:pPr>
            <a:r>
              <a:rPr lang="en-US" sz="1150" b="1" dirty="0">
                <a:solidFill>
                  <a:srgbClr val="3A3A3C"/>
                </a:solidFill>
                <a:latin typeface="Calibri" pitchFamily="34" charset="0"/>
                <a:ea typeface="Calibri" pitchFamily="34" charset="-122"/>
                <a:cs typeface="Calibri" pitchFamily="34" charset="-120"/>
              </a:rPr>
              <a:t>Change impact </a:t>
            </a:r>
            <a:pPr indent="0" marL="0">
              <a:spcAft>
                <a:spcPts val="500"/>
              </a:spcAft>
              <a:buNone/>
            </a:pPr>
            <a:r>
              <a:rPr lang="en-US" sz="1150" dirty="0">
                <a:solidFill>
                  <a:srgbClr val="3A3A3C"/>
                </a:solidFill>
                <a:latin typeface="Calibri" pitchFamily="34" charset="0"/>
                <a:ea typeface="Calibri" pitchFamily="34" charset="-122"/>
                <a:cs typeface="Calibri" pitchFamily="34" charset="-120"/>
              </a:rPr>
              <a:t>analysis from code repositories</a:t>
            </a:r>
            <a:endParaRPr lang="en-US" sz="1150" dirty="0"/>
          </a:p>
          <a:p>
            <a:pPr marL="152400" indent="-152400">
              <a:spcAft>
                <a:spcPts val="500"/>
              </a:spcAft>
              <a:buSzPct val="100000"/>
              <a:buChar char="•"/>
            </a:pPr>
            <a:r>
              <a:rPr lang="en-US" sz="1150" b="1" dirty="0">
                <a:solidFill>
                  <a:srgbClr val="3A3A3C"/>
                </a:solidFill>
                <a:latin typeface="Calibri" pitchFamily="34" charset="0"/>
                <a:ea typeface="Calibri" pitchFamily="34" charset="-122"/>
                <a:cs typeface="Calibri" pitchFamily="34" charset="-120"/>
              </a:rPr>
              <a:t>Unit test </a:t>
            </a:r>
            <a:pPr indent="0" marL="0">
              <a:spcAft>
                <a:spcPts val="500"/>
              </a:spcAft>
              <a:buNone/>
            </a:pPr>
            <a:r>
              <a:rPr lang="en-US" sz="1150" dirty="0">
                <a:solidFill>
                  <a:srgbClr val="3A3A3C"/>
                </a:solidFill>
                <a:latin typeface="Calibri" pitchFamily="34" charset="0"/>
                <a:ea typeface="Calibri" pitchFamily="34" charset="-122"/>
                <a:cs typeface="Calibri" pitchFamily="34" charset="-120"/>
              </a:rPr>
              <a:t>generation</a:t>
            </a:r>
            <a:endParaRPr lang="en-US" sz="1150" dirty="0"/>
          </a:p>
          <a:p>
            <a:pPr marL="152400" indent="-152400">
              <a:spcAft>
                <a:spcPts val="500"/>
              </a:spcAft>
              <a:buSzPct val="100000"/>
              <a:buChar char="•"/>
            </a:pPr>
            <a:r>
              <a:rPr lang="en-US" sz="1150" b="1" dirty="0">
                <a:solidFill>
                  <a:srgbClr val="3A3A3C"/>
                </a:solidFill>
                <a:latin typeface="Calibri" pitchFamily="34" charset="0"/>
                <a:ea typeface="Calibri" pitchFamily="34" charset="-122"/>
                <a:cs typeface="Calibri" pitchFamily="34" charset="-120"/>
              </a:rPr>
              <a:t>Test case generation KB: </a:t>
            </a:r>
            <a:pPr indent="0" marL="0">
              <a:spcAft>
                <a:spcPts val="500"/>
              </a:spcAft>
              <a:buNone/>
            </a:pPr>
            <a:r>
              <a:rPr lang="en-US" sz="1150" dirty="0">
                <a:solidFill>
                  <a:srgbClr val="3A3A3C"/>
                </a:solidFill>
                <a:latin typeface="Calibri" pitchFamily="34" charset="0"/>
                <a:ea typeface="Calibri" pitchFamily="34" charset="-122"/>
                <a:cs typeface="Calibri" pitchFamily="34" charset="-120"/>
              </a:rPr>
              <a:t>upload project documents, generate test cases from them, export to Excel</a:t>
            </a:r>
            <a:endParaRPr lang="en-US" sz="1150" dirty="0"/>
          </a:p>
          <a:p>
            <a:pPr marL="152400" indent="-152400">
              <a:spcAft>
                <a:spcPts val="500"/>
              </a:spcAft>
              <a:buSzPct val="100000"/>
              <a:buChar char="•"/>
            </a:pPr>
            <a:r>
              <a:rPr lang="en-US" sz="1150" b="1" dirty="0">
                <a:solidFill>
                  <a:srgbClr val="3A3A3C"/>
                </a:solidFill>
                <a:latin typeface="Calibri" pitchFamily="34" charset="0"/>
                <a:ea typeface="Calibri" pitchFamily="34" charset="-122"/>
                <a:cs typeface="Calibri" pitchFamily="34" charset="-120"/>
              </a:rPr>
              <a:t>Manager Review &amp; Approve </a:t>
            </a:r>
            <a:pPr indent="0" marL="0">
              <a:spcAft>
                <a:spcPts val="500"/>
              </a:spcAft>
              <a:buNone/>
            </a:pPr>
            <a:r>
              <a:rPr lang="en-US" sz="1150" dirty="0">
                <a:solidFill>
                  <a:srgbClr val="3A3A3C"/>
                </a:solidFill>
                <a:latin typeface="Calibri" pitchFamily="34" charset="0"/>
                <a:ea typeface="Calibri" pitchFamily="34" charset="-122"/>
                <a:cs typeface="Calibri" pitchFamily="34" charset="-120"/>
              </a:rPr>
              <a:t>workflow; IBM RQM/RTC connector</a:t>
            </a:r>
            <a:endParaRPr lang="en-US" sz="1150" dirty="0"/>
          </a:p>
        </p:txBody>
      </p:sp>
      <p:sp>
        <p:nvSpPr>
          <p:cNvPr id="26" name="Shape 22"/>
          <p:cNvSpPr/>
          <p:nvPr/>
        </p:nvSpPr>
        <p:spPr>
          <a:xfrm>
            <a:off x="8083296" y="2651760"/>
            <a:ext cx="3630168" cy="3401568"/>
          </a:xfrm>
          <a:prstGeom prst="roundRect">
            <a:avLst>
              <a:gd name="adj" fmla="val 2151"/>
            </a:avLst>
          </a:prstGeom>
          <a:solidFill>
            <a:srgbClr val="FFFFFF"/>
          </a:solidFill>
          <a:ln w="12700">
            <a:solidFill>
              <a:srgbClr val="E3E4E8"/>
            </a:solidFill>
            <a:prstDash val="solid"/>
          </a:ln>
        </p:spPr>
      </p:sp>
      <p:sp>
        <p:nvSpPr>
          <p:cNvPr id="27" name="Shape 23"/>
          <p:cNvSpPr/>
          <p:nvPr/>
        </p:nvSpPr>
        <p:spPr>
          <a:xfrm>
            <a:off x="8311896" y="2852928"/>
            <a:ext cx="457200" cy="457200"/>
          </a:xfrm>
          <a:prstGeom prst="ellipse">
            <a:avLst/>
          </a:prstGeom>
          <a:solidFill>
            <a:srgbClr val="FBE9EA"/>
          </a:solidFill>
          <a:ln w="12700">
            <a:solidFill>
              <a:srgbClr val="FBE9EA"/>
            </a:solidFill>
            <a:prstDash val="solid"/>
          </a:ln>
        </p:spPr>
      </p:sp>
      <p:pic>
        <p:nvPicPr>
          <p:cNvPr id="28" name="Image 2" descr="preencoded.png">    </p:cNvPr>
          <p:cNvPicPr>
            <a:picLocks noChangeAspect="1"/>
          </p:cNvPicPr>
          <p:nvPr/>
        </p:nvPicPr>
        <p:blipFill>
          <a:blip r:embed="rId3"/>
          <a:stretch>
            <a:fillRect/>
          </a:stretch>
        </p:blipFill>
        <p:spPr>
          <a:xfrm>
            <a:off x="8430768" y="2971800"/>
            <a:ext cx="219456" cy="219456"/>
          </a:xfrm>
          <a:prstGeom prst="rect">
            <a:avLst/>
          </a:prstGeom>
        </p:spPr>
      </p:pic>
      <p:sp>
        <p:nvSpPr>
          <p:cNvPr id="29" name="Text 24"/>
          <p:cNvSpPr txBox="1"/>
          <p:nvPr/>
        </p:nvSpPr>
        <p:spPr>
          <a:xfrm>
            <a:off x="8887968" y="2852928"/>
            <a:ext cx="2670048" cy="457200"/>
          </a:xfrm>
          <a:prstGeom prst="rect">
            <a:avLst/>
          </a:prstGeom>
          <a:noFill/>
          <a:ln/>
        </p:spPr>
        <p:txBody>
          <a:bodyPr wrap="square" lIns="0" tIns="0" rIns="0" bIns="0" rtlCol="0" anchor="ctr"/>
          <a:lstStyle/>
          <a:p>
            <a:pPr indent="0" marL="0">
              <a:buNone/>
            </a:pPr>
            <a:r>
              <a:rPr lang="en-US" sz="1500" b="1" dirty="0">
                <a:solidFill>
                  <a:srgbClr val="1C1C1E"/>
                </a:solidFill>
                <a:latin typeface="Calibri" pitchFamily="34" charset="0"/>
                <a:ea typeface="Calibri" pitchFamily="34" charset="-122"/>
                <a:cs typeface="Calibri" pitchFamily="34" charset="-120"/>
              </a:rPr>
              <a:t>Automation Studio (Q3 2026)</a:t>
            </a:r>
            <a:endParaRPr lang="en-US" sz="1500" dirty="0"/>
          </a:p>
        </p:txBody>
      </p:sp>
      <p:sp>
        <p:nvSpPr>
          <p:cNvPr id="30" name="Text 25"/>
          <p:cNvSpPr txBox="1"/>
          <p:nvPr/>
        </p:nvSpPr>
        <p:spPr>
          <a:xfrm>
            <a:off x="8284464" y="3474720"/>
            <a:ext cx="3264408" cy="2441448"/>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3A3A3C"/>
                </a:solidFill>
                <a:latin typeface="Calibri" pitchFamily="34" charset="0"/>
                <a:ea typeface="Calibri" pitchFamily="34" charset="-122"/>
                <a:cs typeface="Calibri" pitchFamily="34" charset="-120"/>
              </a:rPr>
              <a:t>AI refines approved test cases into precise, checkable steps</a:t>
            </a:r>
            <a:endParaRPr lang="en-US" sz="1150" dirty="0"/>
          </a:p>
          <a:p>
            <a:pPr marL="152400" indent="-152400">
              <a:spcAft>
                <a:spcPts val="500"/>
              </a:spcAft>
              <a:buSzPct val="100000"/>
              <a:buChar char="•"/>
            </a:pPr>
            <a:r>
              <a:rPr lang="en-US" sz="1150" dirty="0">
                <a:solidFill>
                  <a:srgbClr val="3A3A3C"/>
                </a:solidFill>
                <a:latin typeface="Calibri" pitchFamily="34" charset="0"/>
                <a:ea typeface="Calibri" pitchFamily="34" charset="-122"/>
                <a:cs typeface="Calibri" pitchFamily="34" charset="-120"/>
              </a:rPr>
              <a:t>Script generation: Playwright (runs in-platform); Katalon and Appium export</a:t>
            </a:r>
            <a:endParaRPr lang="en-US" sz="1150" dirty="0"/>
          </a:p>
          <a:p>
            <a:pPr marL="152400" indent="-152400">
              <a:spcAft>
                <a:spcPts val="500"/>
              </a:spcAft>
              <a:buSzPct val="100000"/>
              <a:buChar char="•"/>
            </a:pPr>
            <a:r>
              <a:rPr lang="en-US" sz="1150" dirty="0">
                <a:solidFill>
                  <a:srgbClr val="3A3A3C"/>
                </a:solidFill>
                <a:latin typeface="Calibri" pitchFamily="34" charset="0"/>
                <a:ea typeface="Calibri" pitchFamily="34" charset="-122"/>
                <a:cs typeface="Calibri" pitchFamily="34" charset="-120"/>
              </a:rPr>
              <a:t>Isolated runs with video, trace, network log and screenshots</a:t>
            </a:r>
            <a:endParaRPr lang="en-US" sz="1150" dirty="0"/>
          </a:p>
          <a:p>
            <a:pPr marL="152400" indent="-152400">
              <a:spcAft>
                <a:spcPts val="500"/>
              </a:spcAft>
              <a:buSzPct val="100000"/>
              <a:buChar char="•"/>
            </a:pPr>
            <a:r>
              <a:rPr lang="en-US" sz="1150" dirty="0">
                <a:solidFill>
                  <a:srgbClr val="3A3A3C"/>
                </a:solidFill>
                <a:latin typeface="Calibri" pitchFamily="34" charset="0"/>
                <a:ea typeface="Calibri" pitchFamily="34" charset="-122"/>
                <a:cs typeface="Calibri" pitchFamily="34" charset="-120"/>
              </a:rPr>
              <a:t>Self-healing: failed tests diagnosed, repaired and re-validated</a:t>
            </a:r>
            <a:endParaRPr lang="en-US" sz="1150" dirty="0"/>
          </a:p>
          <a:p>
            <a:pPr marL="152400" indent="-152400">
              <a:spcAft>
                <a:spcPts val="500"/>
              </a:spcAft>
              <a:buSzPct val="100000"/>
              <a:buChar char="•"/>
            </a:pPr>
            <a:r>
              <a:rPr lang="en-US" sz="1150" b="1" dirty="0">
                <a:solidFill>
                  <a:srgbClr val="3A3A3C"/>
                </a:solidFill>
                <a:latin typeface="Calibri" pitchFamily="34" charset="0"/>
                <a:ea typeface="Calibri" pitchFamily="34" charset="-122"/>
                <a:cs typeface="Calibri" pitchFamily="34" charset="-120"/>
              </a:rPr>
              <a:t>Automation KB: </a:t>
            </a:r>
            <a:pPr indent="0" marL="0">
              <a:spcAft>
                <a:spcPts val="500"/>
              </a:spcAft>
              <a:buNone/>
            </a:pPr>
            <a:r>
              <a:rPr lang="en-US" sz="1150" dirty="0">
                <a:solidFill>
                  <a:srgbClr val="3A3A3C"/>
                </a:solidFill>
                <a:latin typeface="Calibri" pitchFamily="34" charset="0"/>
                <a:ea typeface="Calibri" pitchFamily="34" charset="-122"/>
                <a:cs typeface="Calibri" pitchFamily="34" charset="-120"/>
              </a:rPr>
              <a:t>prepared JSON per app (profile, verified selectors, journey flows); Discovery drafts new entries for sign-off</a:t>
            </a:r>
            <a:endParaRPr lang="en-US" sz="1150" dirty="0"/>
          </a:p>
        </p:txBody>
      </p:sp>
      <p:sp>
        <p:nvSpPr>
          <p:cNvPr id="31" name="Text 26"/>
          <p:cNvSpPr txBox="1"/>
          <p:nvPr/>
        </p:nvSpPr>
        <p:spPr>
          <a:xfrm>
            <a:off x="457200" y="6217920"/>
            <a:ext cx="11247120" cy="320040"/>
          </a:xfrm>
          <a:prstGeom prst="rect">
            <a:avLst/>
          </a:prstGeom>
          <a:noFill/>
          <a:ln/>
        </p:spPr>
        <p:txBody>
          <a:bodyPr wrap="square" lIns="0" tIns="0" rIns="0" bIns="0" rtlCol="0" anchor="ctr"/>
          <a:lstStyle/>
          <a:p>
            <a:pPr indent="0" marL="0">
              <a:buNone/>
            </a:pPr>
            <a:r>
              <a:rPr lang="en-US" sz="1300" b="1" dirty="0">
                <a:solidFill>
                  <a:srgbClr val="D71920"/>
                </a:solidFill>
                <a:latin typeface="Calibri" pitchFamily="34" charset="0"/>
                <a:ea typeface="Calibri" pitchFamily="34" charset="-122"/>
                <a:cs typeface="Calibri" pitchFamily="34" charset="-120"/>
              </a:rPr>
              <a:t>Our rule: </a:t>
            </a:r>
            <a:pPr indent="0" marL="0">
              <a:buNone/>
            </a:pPr>
            <a:r>
              <a:rPr lang="en-US" sz="1300" i="1" dirty="0">
                <a:solidFill>
                  <a:srgbClr val="1C1C1E"/>
                </a:solidFill>
                <a:latin typeface="Calibri" pitchFamily="34" charset="0"/>
                <a:ea typeface="Calibri" pitchFamily="34" charset="-122"/>
                <a:cs typeface="Calibri" pitchFamily="34" charset="-120"/>
              </a:rPr>
              <a:t>AI suggests. Verified application data and human reviewers decide.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8181B"/>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ctr"/>
          <a:lstStyle/>
          <a:p>
            <a:pPr indent="0" marL="0">
              <a:buNone/>
            </a:pPr>
            <a:r>
              <a:rPr lang="en-US" sz="1200" b="1" spc="200" kern="0" dirty="0">
                <a:solidFill>
                  <a:srgbClr val="D71920"/>
                </a:solidFill>
                <a:latin typeface="Calibri" pitchFamily="34" charset="0"/>
                <a:ea typeface="Calibri" pitchFamily="34" charset="-122"/>
                <a:cs typeface="Calibri" pitchFamily="34" charset="-120"/>
              </a:rPr>
              <a:t>WHAT IS NEXT  ·  Q4 2026 AND EARLY 2027</a:t>
            </a:r>
            <a:endParaRPr lang="en-US" sz="1200" dirty="0"/>
          </a:p>
        </p:txBody>
      </p:sp>
      <p:sp>
        <p:nvSpPr>
          <p:cNvPr id="3" name="Text 1"/>
          <p:cNvSpPr txBox="1"/>
          <p:nvPr/>
        </p:nvSpPr>
        <p:spPr>
          <a:xfrm>
            <a:off x="457200" y="594360"/>
            <a:ext cx="11247120" cy="59436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From production platform to business-wide adoption</a:t>
            </a:r>
            <a:endParaRPr lang="en-US" sz="3200" dirty="0"/>
          </a:p>
        </p:txBody>
      </p:sp>
      <p:sp>
        <p:nvSpPr>
          <p:cNvPr id="4" name="Text 2"/>
          <p:cNvSpPr txBox="1"/>
          <p:nvPr/>
        </p:nvSpPr>
        <p:spPr>
          <a:xfrm>
            <a:off x="4114800" y="1463040"/>
            <a:ext cx="3794760" cy="320040"/>
          </a:xfrm>
          <a:prstGeom prst="rect">
            <a:avLst/>
          </a:prstGeom>
          <a:noFill/>
          <a:ln/>
        </p:spPr>
        <p:txBody>
          <a:bodyPr wrap="square" lIns="0" tIns="0" rIns="0" bIns="0" rtlCol="0" anchor="ctr"/>
          <a:lstStyle/>
          <a:p>
            <a:pPr indent="0" marL="0">
              <a:buNone/>
            </a:pPr>
            <a:r>
              <a:rPr lang="en-US" sz="1400" b="1" dirty="0">
                <a:solidFill>
                  <a:srgbClr val="D71920"/>
                </a:solidFill>
                <a:latin typeface="Calibri" pitchFamily="34" charset="0"/>
                <a:ea typeface="Calibri" pitchFamily="34" charset="-122"/>
                <a:cs typeface="Calibri" pitchFamily="34" charset="-120"/>
              </a:rPr>
              <a:t>Q4 2026</a:t>
            </a:r>
            <a:endParaRPr lang="en-US" sz="1400" dirty="0"/>
          </a:p>
        </p:txBody>
      </p:sp>
      <p:sp>
        <p:nvSpPr>
          <p:cNvPr id="5" name="Text 3"/>
          <p:cNvSpPr txBox="1"/>
          <p:nvPr/>
        </p:nvSpPr>
        <p:spPr>
          <a:xfrm>
            <a:off x="8092440" y="1463040"/>
            <a:ext cx="3867912" cy="320040"/>
          </a:xfrm>
          <a:prstGeom prst="rect">
            <a:avLst/>
          </a:prstGeom>
          <a:noFill/>
          <a:ln/>
        </p:spPr>
        <p:txBody>
          <a:bodyPr wrap="square" lIns="0" tIns="0" rIns="0" bIns="0" rtlCol="0" anchor="ctr"/>
          <a:lstStyle/>
          <a:p>
            <a:pPr indent="0" marL="0">
              <a:buNone/>
            </a:pPr>
            <a:r>
              <a:rPr lang="en-US" sz="1400" b="1" dirty="0">
                <a:solidFill>
                  <a:srgbClr val="A1A1AA"/>
                </a:solidFill>
                <a:latin typeface="Calibri" pitchFamily="34" charset="0"/>
                <a:ea typeface="Calibri" pitchFamily="34" charset="-122"/>
                <a:cs typeface="Calibri" pitchFamily="34" charset="-120"/>
              </a:rPr>
              <a:t>EARLY 2027</a:t>
            </a:r>
            <a:endParaRPr lang="en-US" sz="1400" dirty="0"/>
          </a:p>
        </p:txBody>
      </p:sp>
      <p:sp>
        <p:nvSpPr>
          <p:cNvPr id="6" name="Shape 4"/>
          <p:cNvSpPr/>
          <p:nvPr/>
        </p:nvSpPr>
        <p:spPr>
          <a:xfrm>
            <a:off x="457200" y="1874520"/>
            <a:ext cx="3246120" cy="1298448"/>
          </a:xfrm>
          <a:prstGeom prst="roundRect">
            <a:avLst>
              <a:gd name="adj" fmla="val 5634"/>
            </a:avLst>
          </a:prstGeom>
          <a:solidFill>
            <a:srgbClr val="26262B"/>
          </a:solidFill>
          <a:ln w="12700">
            <a:solidFill>
              <a:srgbClr val="26262B"/>
            </a:solidFill>
            <a:prstDash val="solid"/>
          </a:ln>
        </p:spPr>
      </p:sp>
      <p:sp>
        <p:nvSpPr>
          <p:cNvPr id="7" name="Shape 5"/>
          <p:cNvSpPr/>
          <p:nvPr/>
        </p:nvSpPr>
        <p:spPr>
          <a:xfrm>
            <a:off x="658368" y="2103120"/>
            <a:ext cx="502920" cy="502920"/>
          </a:xfrm>
          <a:prstGeom prst="ellipse">
            <a:avLst/>
          </a:prstGeom>
          <a:solidFill>
            <a:srgbClr val="D71920"/>
          </a:solidFill>
          <a:ln w="12700">
            <a:solidFill>
              <a:srgbClr val="D71920"/>
            </a:solidFill>
            <a:prstDash val="solid"/>
          </a:ln>
        </p:spPr>
      </p:sp>
      <p:pic>
        <p:nvPicPr>
          <p:cNvPr id="8" name="Image 0" descr="preencoded.png">    </p:cNvPr>
          <p:cNvPicPr>
            <a:picLocks noChangeAspect="1"/>
          </p:cNvPicPr>
          <p:nvPr/>
        </p:nvPicPr>
        <p:blipFill>
          <a:blip r:embed="rId1"/>
          <a:stretch>
            <a:fillRect/>
          </a:stretch>
        </p:blipFill>
        <p:spPr>
          <a:xfrm>
            <a:off x="789127" y="2233879"/>
            <a:ext cx="241402" cy="241402"/>
          </a:xfrm>
          <a:prstGeom prst="rect">
            <a:avLst/>
          </a:prstGeom>
        </p:spPr>
      </p:pic>
      <p:sp>
        <p:nvSpPr>
          <p:cNvPr id="9" name="Text 6"/>
          <p:cNvSpPr txBox="1"/>
          <p:nvPr/>
        </p:nvSpPr>
        <p:spPr>
          <a:xfrm>
            <a:off x="1325880" y="2039112"/>
            <a:ext cx="224028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Adoption in business value streams</a:t>
            </a:r>
            <a:endParaRPr lang="en-US" sz="1500" dirty="0"/>
          </a:p>
        </p:txBody>
      </p:sp>
      <p:sp>
        <p:nvSpPr>
          <p:cNvPr id="10" name="Text 7"/>
          <p:cNvSpPr txBox="1"/>
          <p:nvPr/>
        </p:nvSpPr>
        <p:spPr>
          <a:xfrm>
            <a:off x="1325880" y="2651760"/>
            <a:ext cx="2240280" cy="411480"/>
          </a:xfrm>
          <a:prstGeom prst="rect">
            <a:avLst/>
          </a:prstGeom>
          <a:noFill/>
          <a:ln/>
        </p:spPr>
        <p:txBody>
          <a:bodyPr wrap="square" lIns="0" tIns="0" rIns="0" bIns="0" rtlCol="0" anchor="t"/>
          <a:lstStyle/>
          <a:p>
            <a:pPr indent="0" marL="0">
              <a:buNone/>
            </a:pPr>
            <a:r>
              <a:rPr lang="en-US" sz="1050" dirty="0">
                <a:solidFill>
                  <a:srgbClr val="A1A1AA"/>
                </a:solidFill>
                <a:latin typeface="Calibri" pitchFamily="34" charset="0"/>
                <a:ea typeface="Calibri" pitchFamily="34" charset="-122"/>
                <a:cs typeface="Calibri" pitchFamily="34" charset="-120"/>
              </a:rPr>
              <a:t>Consumer · SMB · B2B · e&amp; money</a:t>
            </a:r>
            <a:endParaRPr lang="en-US" sz="1050" dirty="0"/>
          </a:p>
        </p:txBody>
      </p:sp>
      <p:sp>
        <p:nvSpPr>
          <p:cNvPr id="11" name="Shape 8"/>
          <p:cNvSpPr/>
          <p:nvPr/>
        </p:nvSpPr>
        <p:spPr>
          <a:xfrm>
            <a:off x="3886200" y="1874520"/>
            <a:ext cx="3794760" cy="1298448"/>
          </a:xfrm>
          <a:prstGeom prst="roundRect">
            <a:avLst>
              <a:gd name="adj" fmla="val 5634"/>
            </a:avLst>
          </a:prstGeom>
          <a:solidFill>
            <a:srgbClr val="2E2E34"/>
          </a:solidFill>
          <a:ln w="12700">
            <a:solidFill>
              <a:srgbClr val="3A3A40"/>
            </a:solidFill>
            <a:prstDash val="solid"/>
          </a:ln>
        </p:spPr>
      </p:sp>
      <p:sp>
        <p:nvSpPr>
          <p:cNvPr id="12" name="Text 9"/>
          <p:cNvSpPr txBox="1"/>
          <p:nvPr/>
        </p:nvSpPr>
        <p:spPr>
          <a:xfrm>
            <a:off x="4087368" y="2011680"/>
            <a:ext cx="3429000" cy="1024128"/>
          </a:xfrm>
          <a:prstGeom prst="rect">
            <a:avLst/>
          </a:prstGeom>
          <a:noFill/>
          <a:ln/>
        </p:spPr>
        <p:txBody>
          <a:bodyPr wrap="square" lIns="0" tIns="0" rIns="0" bIns="0" rtlCol="0" anchor="ctr"/>
          <a:lstStyle/>
          <a:p>
            <a:pPr marL="152400" indent="-1524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Onboard pilot QA teams in the 4 value streams already modelled in the Automation KB</a:t>
            </a:r>
            <a:endParaRPr lang="en-US" sz="1150" dirty="0"/>
          </a:p>
          <a:p>
            <a:pPr marL="152400" indent="-1524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Set an adoption baseline from the usage report</a:t>
            </a:r>
            <a:endParaRPr lang="en-US" sz="1150" dirty="0"/>
          </a:p>
        </p:txBody>
      </p:sp>
      <p:sp>
        <p:nvSpPr>
          <p:cNvPr id="13" name="Shape 10"/>
          <p:cNvSpPr/>
          <p:nvPr/>
        </p:nvSpPr>
        <p:spPr>
          <a:xfrm>
            <a:off x="7863840" y="1874520"/>
            <a:ext cx="3867912" cy="1298448"/>
          </a:xfrm>
          <a:prstGeom prst="roundRect">
            <a:avLst>
              <a:gd name="adj" fmla="val 5634"/>
            </a:avLst>
          </a:prstGeom>
          <a:solidFill>
            <a:srgbClr val="26262B"/>
          </a:solidFill>
          <a:ln w="12700">
            <a:solidFill>
              <a:srgbClr val="26262B"/>
            </a:solidFill>
            <a:prstDash val="solid"/>
          </a:ln>
        </p:spPr>
      </p:sp>
      <p:sp>
        <p:nvSpPr>
          <p:cNvPr id="14" name="Text 11"/>
          <p:cNvSpPr txBox="1"/>
          <p:nvPr/>
        </p:nvSpPr>
        <p:spPr>
          <a:xfrm>
            <a:off x="8065008" y="2011680"/>
            <a:ext cx="3502152" cy="1024128"/>
          </a:xfrm>
          <a:prstGeom prst="rect">
            <a:avLst/>
          </a:prstGeom>
          <a:noFill/>
          <a:ln/>
        </p:spPr>
        <p:txBody>
          <a:bodyPr wrap="square" lIns="0" tIns="0" rIns="0" bIns="0" rtlCol="0" anchor="ctr"/>
          <a:lstStyle/>
          <a:p>
            <a:pPr marL="152400" indent="-152400">
              <a:spcAft>
                <a:spcPts val="400"/>
              </a:spcAft>
              <a:buSzPct val="100000"/>
              <a:buChar char="•"/>
            </a:pPr>
            <a:r>
              <a:rPr lang="en-US" sz="1150" dirty="0">
                <a:solidFill>
                  <a:srgbClr val="D4D4D8"/>
                </a:solidFill>
                <a:latin typeface="Calibri" pitchFamily="34" charset="0"/>
                <a:ea typeface="Calibri" pitchFamily="34" charset="-122"/>
                <a:cs typeface="Calibri" pitchFamily="34" charset="-120"/>
              </a:rPr>
              <a:t>Scale to further value streams</a:t>
            </a:r>
            <a:endParaRPr lang="en-US" sz="1150" dirty="0"/>
          </a:p>
          <a:p>
            <a:pPr marL="152400" indent="-152400">
              <a:spcAft>
                <a:spcPts val="400"/>
              </a:spcAft>
              <a:buSzPct val="100000"/>
              <a:buChar char="•"/>
            </a:pPr>
            <a:r>
              <a:rPr lang="en-US" sz="1150" dirty="0">
                <a:solidFill>
                  <a:srgbClr val="D4D4D8"/>
                </a:solidFill>
                <a:latin typeface="Calibri" pitchFamily="34" charset="0"/>
                <a:ea typeface="Calibri" pitchFamily="34" charset="-122"/>
                <a:cs typeface="Calibri" pitchFamily="34" charset="-120"/>
              </a:rPr>
              <a:t>Approved AI test cases become the default for new BRDs in Azure DevOps</a:t>
            </a:r>
            <a:endParaRPr lang="en-US" sz="1150" dirty="0"/>
          </a:p>
        </p:txBody>
      </p:sp>
      <p:sp>
        <p:nvSpPr>
          <p:cNvPr id="15" name="Shape 12"/>
          <p:cNvSpPr/>
          <p:nvPr/>
        </p:nvSpPr>
        <p:spPr>
          <a:xfrm>
            <a:off x="457200" y="3310128"/>
            <a:ext cx="3246120" cy="1298448"/>
          </a:xfrm>
          <a:prstGeom prst="roundRect">
            <a:avLst>
              <a:gd name="adj" fmla="val 5634"/>
            </a:avLst>
          </a:prstGeom>
          <a:solidFill>
            <a:srgbClr val="26262B"/>
          </a:solidFill>
          <a:ln w="12700">
            <a:solidFill>
              <a:srgbClr val="26262B"/>
            </a:solidFill>
            <a:prstDash val="solid"/>
          </a:ln>
        </p:spPr>
      </p:sp>
      <p:sp>
        <p:nvSpPr>
          <p:cNvPr id="16" name="Shape 13"/>
          <p:cNvSpPr/>
          <p:nvPr/>
        </p:nvSpPr>
        <p:spPr>
          <a:xfrm>
            <a:off x="658368" y="3538728"/>
            <a:ext cx="502920" cy="502920"/>
          </a:xfrm>
          <a:prstGeom prst="ellipse">
            <a:avLst/>
          </a:prstGeom>
          <a:solidFill>
            <a:srgbClr val="D71920"/>
          </a:solidFill>
          <a:ln w="12700">
            <a:solidFill>
              <a:srgbClr val="D71920"/>
            </a:solidFill>
            <a:prstDash val="solid"/>
          </a:ln>
        </p:spPr>
      </p:sp>
      <p:pic>
        <p:nvPicPr>
          <p:cNvPr id="17" name="Image 1" descr="preencoded.png">    </p:cNvPr>
          <p:cNvPicPr>
            <a:picLocks noChangeAspect="1"/>
          </p:cNvPicPr>
          <p:nvPr/>
        </p:nvPicPr>
        <p:blipFill>
          <a:blip r:embed="rId2"/>
          <a:stretch>
            <a:fillRect/>
          </a:stretch>
        </p:blipFill>
        <p:spPr>
          <a:xfrm>
            <a:off x="789127" y="3669487"/>
            <a:ext cx="241402" cy="241402"/>
          </a:xfrm>
          <a:prstGeom prst="rect">
            <a:avLst/>
          </a:prstGeom>
        </p:spPr>
      </p:pic>
      <p:sp>
        <p:nvSpPr>
          <p:cNvPr id="18" name="Text 14"/>
          <p:cNvSpPr txBox="1"/>
          <p:nvPr/>
        </p:nvSpPr>
        <p:spPr>
          <a:xfrm>
            <a:off x="1325880" y="3474720"/>
            <a:ext cx="224028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Knowledge base establishment</a:t>
            </a:r>
            <a:endParaRPr lang="en-US" sz="1500" dirty="0"/>
          </a:p>
        </p:txBody>
      </p:sp>
      <p:sp>
        <p:nvSpPr>
          <p:cNvPr id="19" name="Text 15"/>
          <p:cNvSpPr txBox="1"/>
          <p:nvPr/>
        </p:nvSpPr>
        <p:spPr>
          <a:xfrm>
            <a:off x="1325880" y="4087368"/>
            <a:ext cx="2240280" cy="411480"/>
          </a:xfrm>
          <a:prstGeom prst="rect">
            <a:avLst/>
          </a:prstGeom>
          <a:noFill/>
          <a:ln/>
        </p:spPr>
        <p:txBody>
          <a:bodyPr wrap="square" lIns="0" tIns="0" rIns="0" bIns="0" rtlCol="0" anchor="t"/>
          <a:lstStyle/>
          <a:p>
            <a:pPr indent="0" marL="0">
              <a:buNone/>
            </a:pPr>
            <a:r>
              <a:rPr lang="en-US" sz="1050" dirty="0">
                <a:solidFill>
                  <a:srgbClr val="A1A1AA"/>
                </a:solidFill>
                <a:latin typeface="Calibri" pitchFamily="34" charset="0"/>
                <a:ea typeface="Calibri" pitchFamily="34" charset="-122"/>
                <a:cs typeface="Calibri" pitchFamily="34" charset="-120"/>
              </a:rPr>
              <a:t>TC generation KB · Automation KB</a:t>
            </a:r>
            <a:endParaRPr lang="en-US" sz="1050" dirty="0"/>
          </a:p>
        </p:txBody>
      </p:sp>
      <p:sp>
        <p:nvSpPr>
          <p:cNvPr id="20" name="Shape 16"/>
          <p:cNvSpPr/>
          <p:nvPr/>
        </p:nvSpPr>
        <p:spPr>
          <a:xfrm>
            <a:off x="3886200" y="3310128"/>
            <a:ext cx="3794760" cy="1298448"/>
          </a:xfrm>
          <a:prstGeom prst="roundRect">
            <a:avLst>
              <a:gd name="adj" fmla="val 5634"/>
            </a:avLst>
          </a:prstGeom>
          <a:solidFill>
            <a:srgbClr val="2E2E34"/>
          </a:solidFill>
          <a:ln w="12700">
            <a:solidFill>
              <a:srgbClr val="3A3A40"/>
            </a:solidFill>
            <a:prstDash val="solid"/>
          </a:ln>
        </p:spPr>
      </p:sp>
      <p:sp>
        <p:nvSpPr>
          <p:cNvPr id="21" name="Text 17"/>
          <p:cNvSpPr txBox="1"/>
          <p:nvPr/>
        </p:nvSpPr>
        <p:spPr>
          <a:xfrm>
            <a:off x="4087368" y="3447288"/>
            <a:ext cx="3429000" cy="1024128"/>
          </a:xfrm>
          <a:prstGeom prst="rect">
            <a:avLst/>
          </a:prstGeom>
          <a:noFill/>
          <a:ln/>
        </p:spPr>
        <p:txBody>
          <a:bodyPr wrap="square" lIns="0" tIns="0" rIns="0" bIns="0" rtlCol="0" anchor="ctr"/>
          <a:lstStyle/>
          <a:p>
            <a:pPr marL="152400" indent="-152400">
              <a:spcAft>
                <a:spcPts val="400"/>
              </a:spcAft>
              <a:buSzPct val="100000"/>
              <a:buChar char="•"/>
            </a:pPr>
            <a:r>
              <a:rPr lang="en-US" sz="1150" b="1" dirty="0">
                <a:solidFill>
                  <a:srgbClr val="FFFFFF"/>
                </a:solidFill>
                <a:latin typeface="Calibri" pitchFamily="34" charset="0"/>
                <a:ea typeface="Calibri" pitchFamily="34" charset="-122"/>
                <a:cs typeface="Calibri" pitchFamily="34" charset="-120"/>
              </a:rPr>
              <a:t>TC generation KB: </a:t>
            </a:r>
            <a:pPr indent="0" marL="0">
              <a:spcAft>
                <a:spcPts val="400"/>
              </a:spcAft>
              <a:buNone/>
            </a:pPr>
            <a:r>
              <a:rPr lang="en-US" sz="1150" dirty="0">
                <a:solidFill>
                  <a:srgbClr val="FFFFFF"/>
                </a:solidFill>
                <a:latin typeface="Calibri" pitchFamily="34" charset="0"/>
                <a:ea typeface="Calibri" pitchFamily="34" charset="-122"/>
                <a:cs typeface="Calibri" pitchFamily="34" charset="-120"/>
              </a:rPr>
              <a:t>pilot-stream BRDs and documents</a:t>
            </a:r>
            <a:endParaRPr lang="en-US" sz="1150" dirty="0"/>
          </a:p>
          <a:p>
            <a:pPr marL="152400" indent="-152400">
              <a:spcAft>
                <a:spcPts val="400"/>
              </a:spcAft>
              <a:buSzPct val="100000"/>
              <a:buChar char="•"/>
            </a:pPr>
            <a:r>
              <a:rPr lang="en-US" sz="1150" b="1" dirty="0">
                <a:solidFill>
                  <a:srgbClr val="FFFFFF"/>
                </a:solidFill>
                <a:latin typeface="Calibri" pitchFamily="34" charset="0"/>
                <a:ea typeface="Calibri" pitchFamily="34" charset="-122"/>
                <a:cs typeface="Calibri" pitchFamily="34" charset="-120"/>
              </a:rPr>
              <a:t>Automation KB: </a:t>
            </a:r>
            <a:pPr indent="0" marL="0">
              <a:spcAft>
                <a:spcPts val="400"/>
              </a:spcAft>
              <a:buNone/>
            </a:pPr>
            <a:r>
              <a:rPr lang="en-US" sz="1150" dirty="0">
                <a:solidFill>
                  <a:srgbClr val="FFFFFF"/>
                </a:solidFill>
                <a:latin typeface="Calibri" pitchFamily="34" charset="0"/>
                <a:ea typeface="Calibri" pitchFamily="34" charset="-122"/>
                <a:cs typeface="Calibri" pitchFamily="34" charset="-120"/>
              </a:rPr>
              <a:t>verified JSON for all 4 apps</a:t>
            </a:r>
            <a:endParaRPr lang="en-US" sz="1150" dirty="0"/>
          </a:p>
          <a:p>
            <a:pPr marL="152400" indent="-1524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Freshness checks, human-approved updates</a:t>
            </a:r>
            <a:endParaRPr lang="en-US" sz="1150" dirty="0"/>
          </a:p>
        </p:txBody>
      </p:sp>
      <p:sp>
        <p:nvSpPr>
          <p:cNvPr id="22" name="Shape 18"/>
          <p:cNvSpPr/>
          <p:nvPr/>
        </p:nvSpPr>
        <p:spPr>
          <a:xfrm>
            <a:off x="7863840" y="3310128"/>
            <a:ext cx="3867912" cy="1298448"/>
          </a:xfrm>
          <a:prstGeom prst="roundRect">
            <a:avLst>
              <a:gd name="adj" fmla="val 5634"/>
            </a:avLst>
          </a:prstGeom>
          <a:solidFill>
            <a:srgbClr val="26262B"/>
          </a:solidFill>
          <a:ln w="12700">
            <a:solidFill>
              <a:srgbClr val="26262B"/>
            </a:solidFill>
            <a:prstDash val="solid"/>
          </a:ln>
        </p:spPr>
      </p:sp>
      <p:sp>
        <p:nvSpPr>
          <p:cNvPr id="23" name="Text 19"/>
          <p:cNvSpPr txBox="1"/>
          <p:nvPr/>
        </p:nvSpPr>
        <p:spPr>
          <a:xfrm>
            <a:off x="8065008" y="3447288"/>
            <a:ext cx="3502152" cy="1024128"/>
          </a:xfrm>
          <a:prstGeom prst="rect">
            <a:avLst/>
          </a:prstGeom>
          <a:noFill/>
          <a:ln/>
        </p:spPr>
        <p:txBody>
          <a:bodyPr wrap="square" lIns="0" tIns="0" rIns="0" bIns="0" rtlCol="0" anchor="ctr"/>
          <a:lstStyle/>
          <a:p>
            <a:pPr marL="152400" indent="-152400">
              <a:spcAft>
                <a:spcPts val="400"/>
              </a:spcAft>
              <a:buSzPct val="100000"/>
              <a:buChar char="•"/>
            </a:pPr>
            <a:r>
              <a:rPr lang="en-US" sz="1150" b="1" dirty="0">
                <a:solidFill>
                  <a:srgbClr val="D4D4D8"/>
                </a:solidFill>
                <a:latin typeface="Calibri" pitchFamily="34" charset="0"/>
                <a:ea typeface="Calibri" pitchFamily="34" charset="-122"/>
                <a:cs typeface="Calibri" pitchFamily="34" charset="-120"/>
              </a:rPr>
              <a:t>TC generation KB: </a:t>
            </a:r>
            <a:pPr indent="0" marL="0">
              <a:spcAft>
                <a:spcPts val="400"/>
              </a:spcAft>
              <a:buNone/>
            </a:pPr>
            <a:r>
              <a:rPr lang="en-US" sz="1150" dirty="0">
                <a:solidFill>
                  <a:srgbClr val="D4D4D8"/>
                </a:solidFill>
                <a:latin typeface="Calibri" pitchFamily="34" charset="0"/>
                <a:ea typeface="Calibri" pitchFamily="34" charset="-122"/>
                <a:cs typeface="Calibri" pitchFamily="34" charset="-120"/>
              </a:rPr>
              <a:t>extend to new value streams</a:t>
            </a:r>
            <a:endParaRPr lang="en-US" sz="1150" dirty="0"/>
          </a:p>
          <a:p>
            <a:pPr marL="152400" indent="-152400">
              <a:spcAft>
                <a:spcPts val="400"/>
              </a:spcAft>
              <a:buSzPct val="100000"/>
              <a:buChar char="•"/>
            </a:pPr>
            <a:r>
              <a:rPr lang="en-US" sz="1150" b="1" dirty="0">
                <a:solidFill>
                  <a:srgbClr val="D4D4D8"/>
                </a:solidFill>
                <a:latin typeface="Calibri" pitchFamily="34" charset="0"/>
                <a:ea typeface="Calibri" pitchFamily="34" charset="-122"/>
                <a:cs typeface="Calibri" pitchFamily="34" charset="-120"/>
              </a:rPr>
              <a:t>Automation KB: </a:t>
            </a:r>
            <a:pPr indent="0" marL="0">
              <a:spcAft>
                <a:spcPts val="400"/>
              </a:spcAft>
              <a:buNone/>
            </a:pPr>
            <a:r>
              <a:rPr lang="en-US" sz="1150" dirty="0">
                <a:solidFill>
                  <a:srgbClr val="D4D4D8"/>
                </a:solidFill>
                <a:latin typeface="Calibri" pitchFamily="34" charset="0"/>
                <a:ea typeface="Calibri" pitchFamily="34" charset="-122"/>
                <a:cs typeface="Calibri" pitchFamily="34" charset="-120"/>
              </a:rPr>
              <a:t>onboard new apps via Application Discovery</a:t>
            </a:r>
            <a:endParaRPr lang="en-US" sz="1150" dirty="0"/>
          </a:p>
        </p:txBody>
      </p:sp>
      <p:sp>
        <p:nvSpPr>
          <p:cNvPr id="24" name="Shape 20"/>
          <p:cNvSpPr/>
          <p:nvPr/>
        </p:nvSpPr>
        <p:spPr>
          <a:xfrm>
            <a:off x="457200" y="4745736"/>
            <a:ext cx="3246120" cy="1298448"/>
          </a:xfrm>
          <a:prstGeom prst="roundRect">
            <a:avLst>
              <a:gd name="adj" fmla="val 5634"/>
            </a:avLst>
          </a:prstGeom>
          <a:solidFill>
            <a:srgbClr val="26262B"/>
          </a:solidFill>
          <a:ln w="12700">
            <a:solidFill>
              <a:srgbClr val="26262B"/>
            </a:solidFill>
            <a:prstDash val="solid"/>
          </a:ln>
        </p:spPr>
      </p:sp>
      <p:sp>
        <p:nvSpPr>
          <p:cNvPr id="25" name="Shape 21"/>
          <p:cNvSpPr/>
          <p:nvPr/>
        </p:nvSpPr>
        <p:spPr>
          <a:xfrm>
            <a:off x="658368" y="4974336"/>
            <a:ext cx="502920" cy="502920"/>
          </a:xfrm>
          <a:prstGeom prst="ellipse">
            <a:avLst/>
          </a:prstGeom>
          <a:solidFill>
            <a:srgbClr val="D71920"/>
          </a:solidFill>
          <a:ln w="12700">
            <a:solidFill>
              <a:srgbClr val="D71920"/>
            </a:solidFill>
            <a:prstDash val="solid"/>
          </a:ln>
        </p:spPr>
      </p:sp>
      <p:pic>
        <p:nvPicPr>
          <p:cNvPr id="26" name="Image 2" descr="preencoded.png">    </p:cNvPr>
          <p:cNvPicPr>
            <a:picLocks noChangeAspect="1"/>
          </p:cNvPicPr>
          <p:nvPr/>
        </p:nvPicPr>
        <p:blipFill>
          <a:blip r:embed="rId3"/>
          <a:stretch>
            <a:fillRect/>
          </a:stretch>
        </p:blipFill>
        <p:spPr>
          <a:xfrm>
            <a:off x="789127" y="5105095"/>
            <a:ext cx="241402" cy="241402"/>
          </a:xfrm>
          <a:prstGeom prst="rect">
            <a:avLst/>
          </a:prstGeom>
        </p:spPr>
      </p:pic>
      <p:sp>
        <p:nvSpPr>
          <p:cNvPr id="27" name="Text 22"/>
          <p:cNvSpPr txBox="1"/>
          <p:nvPr/>
        </p:nvSpPr>
        <p:spPr>
          <a:xfrm>
            <a:off x="1325880" y="4910328"/>
            <a:ext cx="224028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Script automation</a:t>
            </a:r>
            <a:endParaRPr lang="en-US" sz="1500" dirty="0"/>
          </a:p>
        </p:txBody>
      </p:sp>
      <p:sp>
        <p:nvSpPr>
          <p:cNvPr id="28" name="Text 23"/>
          <p:cNvSpPr txBox="1"/>
          <p:nvPr/>
        </p:nvSpPr>
        <p:spPr>
          <a:xfrm>
            <a:off x="1325880" y="5522976"/>
            <a:ext cx="2240280" cy="411480"/>
          </a:xfrm>
          <a:prstGeom prst="rect">
            <a:avLst/>
          </a:prstGeom>
          <a:noFill/>
          <a:ln/>
        </p:spPr>
        <p:txBody>
          <a:bodyPr wrap="square" lIns="0" tIns="0" rIns="0" bIns="0" rtlCol="0" anchor="t"/>
          <a:lstStyle/>
          <a:p>
            <a:pPr indent="0" marL="0">
              <a:buNone/>
            </a:pPr>
            <a:r>
              <a:rPr lang="en-US" sz="1050" dirty="0">
                <a:solidFill>
                  <a:srgbClr val="A1A1AA"/>
                </a:solidFill>
                <a:latin typeface="Calibri" pitchFamily="34" charset="0"/>
                <a:ea typeface="Calibri" pitchFamily="34" charset="-122"/>
                <a:cs typeface="Calibri" pitchFamily="34" charset="-120"/>
              </a:rPr>
              <a:t>Approved test cases to self-healing regression</a:t>
            </a:r>
            <a:endParaRPr lang="en-US" sz="1050" dirty="0"/>
          </a:p>
        </p:txBody>
      </p:sp>
      <p:sp>
        <p:nvSpPr>
          <p:cNvPr id="29" name="Shape 24"/>
          <p:cNvSpPr/>
          <p:nvPr/>
        </p:nvSpPr>
        <p:spPr>
          <a:xfrm>
            <a:off x="3886200" y="4745736"/>
            <a:ext cx="3794760" cy="1298448"/>
          </a:xfrm>
          <a:prstGeom prst="roundRect">
            <a:avLst>
              <a:gd name="adj" fmla="val 5634"/>
            </a:avLst>
          </a:prstGeom>
          <a:solidFill>
            <a:srgbClr val="2E2E34"/>
          </a:solidFill>
          <a:ln w="12700">
            <a:solidFill>
              <a:srgbClr val="3A3A40"/>
            </a:solidFill>
            <a:prstDash val="solid"/>
          </a:ln>
        </p:spPr>
      </p:sp>
      <p:sp>
        <p:nvSpPr>
          <p:cNvPr id="30" name="Text 25"/>
          <p:cNvSpPr txBox="1"/>
          <p:nvPr/>
        </p:nvSpPr>
        <p:spPr>
          <a:xfrm>
            <a:off x="4087368" y="4882896"/>
            <a:ext cx="3429000" cy="1024128"/>
          </a:xfrm>
          <a:prstGeom prst="rect">
            <a:avLst/>
          </a:prstGeom>
          <a:noFill/>
          <a:ln/>
        </p:spPr>
        <p:txBody>
          <a:bodyPr wrap="square" lIns="0" tIns="0" rIns="0" bIns="0" rtlCol="0" anchor="ctr"/>
          <a:lstStyle/>
          <a:p>
            <a:pPr marL="152400" indent="-1524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Automated Playwright regression for approved journeys on the 4 apps</a:t>
            </a:r>
            <a:endParaRPr lang="en-US" sz="1150" dirty="0"/>
          </a:p>
          <a:p>
            <a:pPr marL="152400" indent="-1524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Auto-flag each failure: app defect or script issue</a:t>
            </a:r>
            <a:endParaRPr lang="en-US" sz="1150" dirty="0"/>
          </a:p>
          <a:p>
            <a:pPr marL="152400" indent="-1524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Convert test cases to automation steps in bulk</a:t>
            </a:r>
            <a:endParaRPr lang="en-US" sz="1150" dirty="0"/>
          </a:p>
        </p:txBody>
      </p:sp>
      <p:sp>
        <p:nvSpPr>
          <p:cNvPr id="31" name="Shape 26"/>
          <p:cNvSpPr/>
          <p:nvPr/>
        </p:nvSpPr>
        <p:spPr>
          <a:xfrm>
            <a:off x="7863840" y="4745736"/>
            <a:ext cx="3867912" cy="1298448"/>
          </a:xfrm>
          <a:prstGeom prst="roundRect">
            <a:avLst>
              <a:gd name="adj" fmla="val 5634"/>
            </a:avLst>
          </a:prstGeom>
          <a:solidFill>
            <a:srgbClr val="26262B"/>
          </a:solidFill>
          <a:ln w="12700">
            <a:solidFill>
              <a:srgbClr val="26262B"/>
            </a:solidFill>
            <a:prstDash val="solid"/>
          </a:ln>
        </p:spPr>
      </p:sp>
      <p:sp>
        <p:nvSpPr>
          <p:cNvPr id="32" name="Text 27"/>
          <p:cNvSpPr txBox="1"/>
          <p:nvPr/>
        </p:nvSpPr>
        <p:spPr>
          <a:xfrm>
            <a:off x="8065008" y="4882896"/>
            <a:ext cx="3502152" cy="1024128"/>
          </a:xfrm>
          <a:prstGeom prst="rect">
            <a:avLst/>
          </a:prstGeom>
          <a:noFill/>
          <a:ln/>
        </p:spPr>
        <p:txBody>
          <a:bodyPr wrap="square" lIns="0" tIns="0" rIns="0" bIns="0" rtlCol="0" anchor="ctr"/>
          <a:lstStyle/>
          <a:p>
            <a:pPr marL="152400" indent="-152400">
              <a:spcAft>
                <a:spcPts val="400"/>
              </a:spcAft>
              <a:buSzPct val="100000"/>
              <a:buChar char="•"/>
            </a:pPr>
            <a:r>
              <a:rPr lang="en-US" sz="1150" dirty="0">
                <a:solidFill>
                  <a:srgbClr val="D4D4D8"/>
                </a:solidFill>
                <a:latin typeface="Calibri" pitchFamily="34" charset="0"/>
                <a:ea typeface="Calibri" pitchFamily="34" charset="-122"/>
                <a:cs typeface="Calibri" pitchFamily="34" charset="-120"/>
              </a:rPr>
              <a:t>Scheduled and pipeline-triggered regression runs</a:t>
            </a:r>
            <a:endParaRPr lang="en-US" sz="1150" dirty="0"/>
          </a:p>
          <a:p>
            <a:pPr marL="152400" indent="-152400">
              <a:spcAft>
                <a:spcPts val="400"/>
              </a:spcAft>
              <a:buSzPct val="100000"/>
              <a:buChar char="•"/>
            </a:pPr>
            <a:r>
              <a:rPr lang="en-US" sz="1150" dirty="0">
                <a:solidFill>
                  <a:srgbClr val="D4D4D8"/>
                </a:solidFill>
                <a:latin typeface="Calibri" pitchFamily="34" charset="0"/>
                <a:ea typeface="Calibri" pitchFamily="34" charset="-122"/>
                <a:cs typeface="Calibri" pitchFamily="34" charset="-120"/>
              </a:rPr>
              <a:t>Extend execution beyond Playwright: Katalon, and Appium for mobile</a:t>
            </a:r>
            <a:endParaRPr lang="en-US" sz="1150" dirty="0"/>
          </a:p>
        </p:txBody>
      </p:sp>
      <p:sp>
        <p:nvSpPr>
          <p:cNvPr id="33" name="Text 28"/>
          <p:cNvSpPr txBox="1"/>
          <p:nvPr/>
        </p:nvSpPr>
        <p:spPr>
          <a:xfrm>
            <a:off x="457200" y="6144768"/>
            <a:ext cx="11247120" cy="365760"/>
          </a:xfrm>
          <a:prstGeom prst="rect">
            <a:avLst/>
          </a:prstGeom>
          <a:noFill/>
          <a:ln/>
        </p:spPr>
        <p:txBody>
          <a:bodyPr wrap="square" lIns="0" tIns="0" rIns="0" bIns="0" rtlCol="0" anchor="ctr"/>
          <a:lstStyle/>
          <a:p>
            <a:pPr indent="0" marL="0">
              <a:buNone/>
            </a:pPr>
            <a:r>
              <a:rPr lang="en-US" sz="1200" b="1" dirty="0">
                <a:solidFill>
                  <a:srgbClr val="D71920"/>
                </a:solidFill>
                <a:latin typeface="Calibri" pitchFamily="34" charset="0"/>
                <a:ea typeface="Calibri" pitchFamily="34" charset="-122"/>
                <a:cs typeface="Calibri" pitchFamily="34" charset="-120"/>
              </a:rPr>
              <a:t>How we will measure it:  </a:t>
            </a:r>
            <a:pPr indent="0" marL="0">
              <a:buNone/>
            </a:pPr>
            <a:r>
              <a:rPr lang="en-US" sz="1200" dirty="0">
                <a:solidFill>
                  <a:srgbClr val="D4D4D8"/>
                </a:solidFill>
                <a:latin typeface="Calibri" pitchFamily="34" charset="0"/>
                <a:ea typeface="Calibri" pitchFamily="34" charset="-122"/>
                <a:cs typeface="Calibri" pitchFamily="34" charset="-120"/>
              </a:rPr>
              <a:t>active users per value stream  ·  test cases generated &amp; approved  ·  % of regression automated  ·  KB journey coverage  ·  self-healed failures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Testing — Q3 2026 progress and what's next</dc:title>
  <dc:subject>PptxGenJS Presentation</dc:subject>
  <dc:creator>PptxGenJS</dc:creator>
  <cp:lastModifiedBy>PptxGenJS</cp:lastModifiedBy>
  <cp:revision>1</cp:revision>
  <dcterms:created xsi:type="dcterms:W3CDTF">2026-09-11T07:06:35Z</dcterms:created>
  <dcterms:modified xsi:type="dcterms:W3CDTF">2026-09-11T07:06:35Z</dcterms:modified>
</cp:coreProperties>
</file>