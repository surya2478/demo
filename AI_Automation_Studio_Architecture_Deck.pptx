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7"/>
  </p:notesMasterIdLst>
  <p:sldIdLst>
    <p:sldId id="256" r:id="rId2"/>
    <p:sldId id="257" r:id="rId3"/>
    <p:sldId id="258" r:id="rId4"/>
    <p:sldId id="259" r:id="rId5"/>
    <p:sldId id="260" r:id="rId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02" d="100"/>
          <a:sy n="102" d="100"/>
        </p:scale>
        <p:origin x="96" y="12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637853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design choice, not a shortcut. We use AI where judgement is needed — understanding an application, reading a requirement, diagnosing a failure. We use ordinary, predictable code where we need the same input to give the same output every time: building the script, checking it, running it.</a:t>
            </a:r>
          </a:p>
          <a:p>
            <a:r>
              <a:t>That way results can be repeated and audited. Everything else in this deck follows from that one split.</a:t>
            </a:r>
          </a:p>
          <a:p>
            <a:r>
              <a:t>The line at the bottom is the thread through every remaining slide: the AI contributes judgement, our own data contributes the facts, and the two never swap roles.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most important slide. Without these facts, the system still produces tests — but with made-up web addresses and invented product codes. It looks like the AI is performing badly, when really we never gave it the information. That is an expensive thing to diagnose.</a:t>
            </a:r>
          </a:p>
          <a:p>
            <a:r>
              <a:t>The safeguard worth highlighting: the AI runs unattended, but it can only ever describe what the crawler actually saw, and a person signs off before anything goes live.</a:t>
            </a:r>
          </a:p>
          <a:p>
            <a:r>
              <a:t>One honest risk: this information is specific to each deployment and it goes out of date. We found product codes this week that no longer match the live catalogue. Automatic freshness checks are on the roadmap.</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Because this is ordinary code, the scores can be repeated and we can always explain afterwards why a particular journey was chosen. That matters for audit.</a:t>
            </a:r>
          </a:p>
          <a:p>
            <a:r>
              <a:t>Spend the time on the last line. The easy option is to fall back to a default journey whenever we are unsure — it makes our coverage numbers look better. We chose not to.</a:t>
            </a:r>
          </a:p>
          <a:p>
            <a:r>
              <a:t>A test pointed at the wrong product does not look broken: it reads perfectly, runs perfectly, and confidently checks the wrong thing. A test that did not run is easy to spot and fix. A test that quietly checked the wrong thing undermines trust in every other result. We would rather do less and be right.</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Start with what goes wrong. If AI writes these instructions directly, the mistakes are invisible — the script looks correct, runs, and only fails later, once we have already paid for the run. And because the AI will not give the same answer twice, you cannot review the change like normal code.</a:t>
            </a:r>
          </a:p>
          <a:p>
            <a:r>
              <a:t>So: fixed code does the building, using the best source available. The first three sources are facts and AI never touches them.</a:t>
            </a:r>
          </a:p>
          <a:p>
            <a:r>
              <a:t>The fourth is the honest exception. We were already guessing there with pattern-matching rules, and those guesses were not reliable either — so an AI guess is no worse, and usually better. That is exactly where AI belongs: in a small, fenced-off space, with the old guess kept as a backup.</a:t>
            </a:r>
          </a:p>
          <a:p>
            <a:r>
              <a:t>The backup is proven, not theoretical — the AI provider went down during our testing and the system carried on normally.</a:t>
            </a:r>
          </a:p>
          <a:p>
            <a:r>
              <a:t>Result on an application we had never modelled: all 4 uncertain elements resolved, warnings down to zero. Be straight about this — our current e&amp; applications are fully covered by the knowledge base, so this changes nothing today. It pays off the first time we point the platform at something new.</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clearest difference from normal test tools: it tries to fix the problem instead of just reporting it. Applications change constantly, and every change would otherwise land on someone’s desk as manual rework.</a:t>
            </a:r>
          </a:p>
          <a:p>
            <a:r>
              <a:t>The safety net is worth spelling out. Before we added it, a fix once produced a file the system could not even read — no tests ran, and we got no video, no screenshots, nothing. It looked like the evidence was missing rather than like the repair had failed, which is the worst kind of problem to chase. Checking the fix before running it removes that whole category.</a:t>
            </a:r>
          </a:p>
          <a:p>
            <a:r>
              <a:t>Finish on the roadmap. One line on the Refinement Agent — enough to answer a question if someone asks, without giving it slide space.</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9/2/2026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
        <p:nvSpPr>
          <p:cNvPr id="8" name="TextBox 7">
            <a:extLst>
              <a:ext uri="{FF2B5EF4-FFF2-40B4-BE49-F238E27FC236}">
                <a16:creationId xmlns:a16="http://schemas.microsoft.com/office/drawing/2014/main" id="{54EB0FA9-24DF-E030-4971-3A4AF53C49EA}"/>
              </a:ext>
            </a:extLst>
          </p:cNvPr>
          <p:cNvSpPr txBox="1"/>
          <p:nvPr userDrawn="1">
            <p:extLst>
              <p:ext uri="{1162E1C5-73C7-4A58-AE30-91384D911F3F}">
                <p184:classification xmlns:p184="http://schemas.microsoft.com/office/powerpoint/2018/4/main" val="ftr"/>
              </p:ext>
            </p:extLst>
          </p:nvPr>
        </p:nvSpPr>
        <p:spPr>
          <a:xfrm>
            <a:off x="5841175" y="6611620"/>
            <a:ext cx="541337" cy="182880"/>
          </a:xfrm>
          <a:prstGeom prst="rect">
            <a:avLst/>
          </a:prstGeom>
        </p:spPr>
        <p:txBody>
          <a:bodyPr horzOverflow="overflow" lIns="0" tIns="0" rIns="0" bIns="0">
            <a:spAutoFit/>
          </a:bodyPr>
          <a:lstStyle/>
          <a:p>
            <a:pPr algn="l"/>
            <a:r>
              <a:rPr lang="en-GB" sz="1200">
                <a:solidFill>
                  <a:srgbClr val="000000">
                    <a:alpha val="50000"/>
                  </a:srgbClr>
                </a:solidFill>
                <a:latin typeface="Aptos" panose="020B0004020202020204" pitchFamily="34" charset="0"/>
              </a:rPr>
              <a:t>Internal</a:t>
            </a:r>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0F1D"/>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400"/>
              </a:spcAft>
              <a:defRPr sz="1000" b="1">
                <a:solidFill>
                  <a:srgbClr val="06B6D4"/>
                </a:solidFill>
              </a:defRPr>
            </a:pPr>
            <a:r>
              <a:t>SLIDE 01 — HOW THE SYSTEM IS PUT TOGETHER</a:t>
            </a:r>
          </a:p>
          <a:p>
            <a:pPr>
              <a:spcAft>
                <a:spcPts val="200"/>
              </a:spcAft>
              <a:defRPr sz="2200" b="1">
                <a:solidFill>
                  <a:srgbClr val="F8FAFC"/>
                </a:solidFill>
              </a:defRPr>
            </a:pPr>
            <a:r>
              <a:t>Who Does What</a:t>
            </a:r>
          </a:p>
          <a:p>
            <a:pPr>
              <a:defRPr sz="1200">
                <a:solidFill>
                  <a:srgbClr val="94A3B8"/>
                </a:solidFill>
              </a:defRPr>
            </a:pPr>
            <a:r>
              <a:t>Two kinds of work, kept deliberately separate: AI that interprets, and fixed code that builds and runs.</a:t>
            </a:r>
          </a:p>
        </p:txBody>
      </p:sp>
      <p:sp>
        <p:nvSpPr>
          <p:cNvPr id="3" name="Rounded Rectangle 2"/>
          <p:cNvSpPr/>
          <p:nvPr/>
        </p:nvSpPr>
        <p:spPr>
          <a:xfrm>
            <a:off x="731520" y="1554480"/>
            <a:ext cx="5212080" cy="3931920"/>
          </a:xfrm>
          <a:prstGeom prst="roundRect">
            <a:avLst/>
          </a:prstGeom>
          <a:solidFill>
            <a:srgbClr val="131B2E"/>
          </a:solidFill>
          <a:ln w="19050">
            <a:solidFill>
              <a:srgbClr val="815AF6"/>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1200"/>
              </a:spcAft>
              <a:defRPr sz="1300" b="1">
                <a:solidFill>
                  <a:srgbClr val="C084FC"/>
                </a:solidFill>
              </a:defRPr>
            </a:pPr>
            <a:r>
              <a:rPr dirty="0"/>
              <a:t>🧠 The AI Agents — They Interpret and Decide</a:t>
            </a:r>
          </a:p>
          <a:p>
            <a:pPr>
              <a:spcAft>
                <a:spcPts val="200"/>
              </a:spcAft>
              <a:defRPr sz="1100" b="1">
                <a:solidFill>
                  <a:srgbClr val="F8FAFC"/>
                </a:solidFill>
              </a:defRPr>
            </a:pPr>
            <a:r>
              <a:rPr dirty="0"/>
              <a:t xml:space="preserve">• Knowledge Synthesis: </a:t>
            </a:r>
            <a:r>
              <a:rPr b="0" dirty="0">
                <a:solidFill>
                  <a:srgbClr val="94A3B8"/>
                </a:solidFill>
              </a:rPr>
              <a:t>Explores the application and writes down how it is built.</a:t>
            </a:r>
          </a:p>
          <a:p>
            <a:pPr>
              <a:spcAft>
                <a:spcPts val="200"/>
              </a:spcAft>
              <a:defRPr sz="1100" b="1">
                <a:solidFill>
                  <a:srgbClr val="F8FAFC"/>
                </a:solidFill>
              </a:defRPr>
            </a:pPr>
            <a:r>
              <a:rPr dirty="0"/>
              <a:t xml:space="preserve">• Refinement: </a:t>
            </a:r>
            <a:r>
              <a:rPr b="0" dirty="0" err="1">
                <a:solidFill>
                  <a:srgbClr val="94A3B8"/>
                </a:solidFill>
              </a:rPr>
              <a:t>Turns a test written in plain English into precise, structured instructions.</a:t>
            </a:r>
          </a:p>
          <a:p>
            <a:pPr>
              <a:spcAft>
                <a:spcPts val="200"/>
              </a:spcAft>
              <a:defRPr sz="1100" b="1">
                <a:solidFill>
                  <a:srgbClr val="F8FAFC"/>
                </a:solidFill>
              </a:defRPr>
            </a:pPr>
            <a:r>
              <a:rPr dirty="0"/>
              <a:t xml:space="preserve">• Locator Resolution: </a:t>
            </a:r>
            <a:r>
              <a:rPr b="0" dirty="0">
                <a:solidFill>
                  <a:srgbClr val="94A3B8"/>
                </a:solidFill>
              </a:rPr>
              <a:t>Works out where to click, but only when we do not already know.</a:t>
            </a:r>
          </a:p>
          <a:p>
            <a:pPr>
              <a:spcAft>
                <a:spcPts val="200"/>
              </a:spcAft>
              <a:defRPr sz="1100" b="1">
                <a:solidFill>
                  <a:srgbClr val="F8FAFC"/>
                </a:solidFill>
              </a:defRPr>
            </a:pPr>
            <a:r>
              <a:rPr dirty="0"/>
              <a:t xml:space="preserve">• Self-Healing: </a:t>
            </a:r>
            <a:r>
              <a:rPr b="0" dirty="0">
                <a:solidFill>
                  <a:srgbClr val="94A3B8"/>
                </a:solidFill>
              </a:rPr>
              <a:t>When a test breaks, works out why and tries to fix it.</a:t>
            </a:r>
          </a:p>
        </p:txBody>
      </p:sp>
      <p:sp>
        <p:nvSpPr>
          <p:cNvPr id="4" name="Rounded Rectangle 3"/>
          <p:cNvSpPr/>
          <p:nvPr/>
        </p:nvSpPr>
        <p:spPr>
          <a:xfrm>
            <a:off x="6217920" y="1554480"/>
            <a:ext cx="5212080" cy="3931920"/>
          </a:xfrm>
          <a:prstGeom prst="roundRect">
            <a:avLst/>
          </a:prstGeom>
          <a:solidFill>
            <a:srgbClr val="131B2E"/>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1200"/>
              </a:spcAft>
              <a:defRPr sz="1300" b="1">
                <a:solidFill>
                  <a:srgbClr val="06B6D4"/>
                </a:solidFill>
              </a:defRPr>
            </a:pPr>
            <a:r>
              <a:t>⚙️ The Fixed Code — It Builds and Runs</a:t>
            </a:r>
          </a:p>
          <a:p>
            <a:pPr>
              <a:spcAft>
                <a:spcPts val="200"/>
              </a:spcAft>
              <a:defRPr sz="1100" b="1">
                <a:solidFill>
                  <a:srgbClr val="F8FAFC"/>
                </a:solidFill>
              </a:defRPr>
            </a:pPr>
            <a:r>
              <a:t xml:space="preserve">• Script Builder: </a:t>
            </a:r>
            <a:r>
              <a:rPr b="0">
                <a:solidFill>
                  <a:srgbClr val="94A3B8"/>
                </a:solidFill>
              </a:rPr>
              <a:t>Turns the structured instructions into a runnable test. No AI involved.</a:t>
            </a:r>
          </a:p>
          <a:p>
            <a:pPr>
              <a:spcAft>
                <a:spcPts val="200"/>
              </a:spcAft>
              <a:defRPr sz="1100" b="1">
                <a:solidFill>
                  <a:srgbClr val="F8FAFC"/>
                </a:solidFill>
              </a:defRPr>
            </a:pPr>
            <a:r>
              <a:t xml:space="preserve">• Validity Check: </a:t>
            </a:r>
            <a:r>
              <a:rPr b="0">
                <a:solidFill>
                  <a:srgbClr val="94A3B8"/>
                </a:solidFill>
              </a:rPr>
              <a:t>Confirms the script is well-formed and safe before it is allowed to run.</a:t>
            </a:r>
          </a:p>
          <a:p>
            <a:pPr>
              <a:spcAft>
                <a:spcPts val="200"/>
              </a:spcAft>
              <a:defRPr sz="1100" b="1">
                <a:solidFill>
                  <a:srgbClr val="F8FAFC"/>
                </a:solidFill>
              </a:defRPr>
            </a:pPr>
            <a:r>
              <a:t xml:space="preserve">• Test Runner: </a:t>
            </a:r>
            <a:r>
              <a:rPr b="0">
                <a:solidFill>
                  <a:srgbClr val="94A3B8"/>
                </a:solidFill>
              </a:rPr>
              <a:t>Runs each test in its own isolated environment, with a full audit trail.</a:t>
            </a:r>
          </a:p>
          <a:p>
            <a:pPr>
              <a:spcAft>
                <a:spcPts val="200"/>
              </a:spcAft>
              <a:defRPr sz="1100" b="1">
                <a:solidFill>
                  <a:srgbClr val="F8FAFC"/>
                </a:solidFill>
              </a:defRPr>
            </a:pPr>
            <a:r>
              <a:t xml:space="preserve">• Evidence Capture: </a:t>
            </a:r>
            <a:r>
              <a:rPr b="0">
                <a:solidFill>
                  <a:srgbClr val="94A3B8"/>
                </a:solidFill>
              </a:rPr>
              <a:t>Video, step-by-step trace, network log and screenshots for every run.</a:t>
            </a:r>
          </a:p>
        </p:txBody>
      </p:sp>
      <p:sp>
        <p:nvSpPr>
          <p:cNvPr id="5" name="Rounded Rectangle 4"/>
          <p:cNvSpPr/>
          <p:nvPr/>
        </p:nvSpPr>
        <p:spPr>
          <a:xfrm>
            <a:off x="731520" y="5623560"/>
            <a:ext cx="10698480" cy="777240"/>
          </a:xfrm>
          <a:prstGeom prst="roundRect">
            <a:avLst/>
          </a:prstGeom>
          <a:solidFill>
            <a:srgbClr val="181432"/>
          </a:solidFill>
          <a:ln>
            <a:solidFill>
              <a:srgbClr val="815AF6"/>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F8FAFC"/>
                </a:solidFill>
              </a:defRPr>
            </a:pPr>
            <a:r>
              <a:t>✔ The rule we work to: AI can suggest. Facts come from our own data.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A0F1D"/>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400"/>
              </a:spcAft>
              <a:defRPr sz="1000" b="1">
                <a:solidFill>
                  <a:srgbClr val="06B6D4"/>
                </a:solidFill>
              </a:defRPr>
            </a:pPr>
            <a:r>
              <a:t>SLIDE 02 — HOW THE SYSTEM IS PUT TOGETHER</a:t>
            </a:r>
          </a:p>
          <a:p>
            <a:pPr>
              <a:spcAft>
                <a:spcPts val="200"/>
              </a:spcAft>
              <a:defRPr sz="2200" b="1">
                <a:solidFill>
                  <a:srgbClr val="F8FAFC"/>
                </a:solidFill>
              </a:defRPr>
            </a:pPr>
            <a:r>
              <a:t>The Knowledge Base: What We Know About Each App</a:t>
            </a:r>
          </a:p>
          <a:p>
            <a:pPr>
              <a:defRPr sz="1200">
                <a:solidFill>
                  <a:srgbClr val="94A3B8"/>
                </a:solidFill>
              </a:defRPr>
            </a:pPr>
            <a:r>
              <a:t>A store of verified facts about each application. This is what stops the AI making things up.</a:t>
            </a:r>
          </a:p>
        </p:txBody>
      </p:sp>
      <p:sp>
        <p:nvSpPr>
          <p:cNvPr id="3" name="Rounded Rectangle 2"/>
          <p:cNvSpPr/>
          <p:nvPr/>
        </p:nvSpPr>
        <p:spPr>
          <a:xfrm>
            <a:off x="731520" y="1554480"/>
            <a:ext cx="5212080" cy="2377440"/>
          </a:xfrm>
          <a:prstGeom prst="roundRect">
            <a:avLst/>
          </a:prstGeom>
          <a:solidFill>
            <a:srgbClr val="131B2E"/>
          </a:solidFill>
          <a:ln>
            <a:solidFill>
              <a:srgbClr val="2D3750"/>
            </a:solidFill>
          </a:ln>
        </p:spPr>
        <p:style>
          <a:lnRef idx="1">
            <a:schemeClr val="accent1"/>
          </a:lnRef>
          <a:fillRef idx="3">
            <a:schemeClr val="accent1"/>
          </a:fillRef>
          <a:effectRef idx="2">
            <a:schemeClr val="accent1"/>
          </a:effectRef>
          <a:fontRef idx="minor">
            <a:schemeClr val="lt1"/>
          </a:fontRef>
        </p:style>
        <p:txBody>
          <a:bodyPr wrap="square" lIns="182880" tIns="182880" rtlCol="0" anchor="ctr"/>
          <a:lstStyle/>
          <a:p>
            <a:pPr algn="ctr">
              <a:spcAft>
                <a:spcPts val="600"/>
              </a:spcAft>
              <a:defRPr sz="1300" b="1">
                <a:solidFill>
                  <a:srgbClr val="06B6D4"/>
                </a:solidFill>
              </a:defRPr>
            </a:pPr>
            <a:r>
              <a:t>🗂️ About the Application</a:t>
            </a:r>
          </a:p>
          <a:p>
            <a:pPr>
              <a:defRPr sz="1100">
                <a:solidFill>
                  <a:srgbClr val="94A3B8"/>
                </a:solidFill>
              </a:defRPr>
            </a:pPr>
            <a:r>
              <a:t>• Where it lives: web address, domain, cookie and security rules</a:t>
            </a:r>
            <a:br/>
            <a:r>
              <a:t>• Page addresses: the shape of product and catalogue page URLs</a:t>
            </a:r>
            <a:br/>
            <a:r>
              <a:t>• On-screen elements: 4 verified groups of things we know how to find</a:t>
            </a:r>
            <a:br/>
            <a:r>
              <a:t>• Step matching rules: 8 rules that map a test step to the right page</a:t>
            </a:r>
          </a:p>
        </p:txBody>
      </p:sp>
      <p:sp>
        <p:nvSpPr>
          <p:cNvPr id="4" name="Rounded Rectangle 3"/>
          <p:cNvSpPr/>
          <p:nvPr/>
        </p:nvSpPr>
        <p:spPr>
          <a:xfrm>
            <a:off x="6217920" y="1554480"/>
            <a:ext cx="5212080" cy="2377440"/>
          </a:xfrm>
          <a:prstGeom prst="roundRect">
            <a:avLst/>
          </a:prstGeom>
          <a:solidFill>
            <a:srgbClr val="131B2E"/>
          </a:solidFill>
          <a:ln>
            <a:solidFill>
              <a:srgbClr val="2D3750"/>
            </a:solidFill>
          </a:ln>
        </p:spPr>
        <p:style>
          <a:lnRef idx="1">
            <a:schemeClr val="accent1"/>
          </a:lnRef>
          <a:fillRef idx="3">
            <a:schemeClr val="accent1"/>
          </a:fillRef>
          <a:effectRef idx="2">
            <a:schemeClr val="accent1"/>
          </a:effectRef>
          <a:fontRef idx="minor">
            <a:schemeClr val="lt1"/>
          </a:fontRef>
        </p:style>
        <p:txBody>
          <a:bodyPr wrap="square" lIns="182880" tIns="182880" rtlCol="0" anchor="ctr"/>
          <a:lstStyle/>
          <a:p>
            <a:pPr algn="ctr">
              <a:spcAft>
                <a:spcPts val="600"/>
              </a:spcAft>
              <a:defRPr sz="1300" b="1">
                <a:solidFill>
                  <a:srgbClr val="815AF6"/>
                </a:solidFill>
              </a:defRPr>
            </a:pPr>
            <a:r>
              <a:t>🧾 Customer Journeys and Products</a:t>
            </a:r>
          </a:p>
          <a:p>
            <a:pPr>
              <a:defRPr sz="1100">
                <a:solidFill>
                  <a:srgbClr val="94A3B8"/>
                </a:solidFill>
              </a:defRPr>
            </a:pPr>
            <a:r>
              <a:t>• Matching words: the phrases that identify each journey</a:t>
            </a:r>
            <a:br/>
            <a:r>
              <a:t>• Standard journeys: 8 steps each, with blanks to fill in</a:t>
            </a:r>
            <a:br/>
            <a:r>
              <a:t>• Real product list: exact product IDs, SKUs, prices and variants</a:t>
            </a:r>
            <a:br/>
            <a:r>
              <a:t>• Where automation stops: flags logins, OTPs and payment walls</a:t>
            </a:r>
          </a:p>
        </p:txBody>
      </p:sp>
      <p:sp>
        <p:nvSpPr>
          <p:cNvPr id="5" name="Rectangle 4"/>
          <p:cNvSpPr/>
          <p:nvPr/>
        </p:nvSpPr>
        <p:spPr>
          <a:xfrm>
            <a:off x="731520" y="4069080"/>
            <a:ext cx="10698480" cy="502920"/>
          </a:xfrm>
          <a:prstGeom prst="rect">
            <a:avLst/>
          </a:prstGeom>
          <a:solidFill>
            <a:srgbClr val="101E3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10B981"/>
                </a:solidFill>
              </a:defRPr>
            </a:pPr>
            <a:r>
              <a:t>📊 What we cover today: 2 applications  •  7 verified journeys  •  19 products</a:t>
            </a:r>
          </a:p>
        </p:txBody>
      </p:sp>
      <p:sp>
        <p:nvSpPr>
          <p:cNvPr id="6" name="Rounded Rectangle 5"/>
          <p:cNvSpPr/>
          <p:nvPr/>
        </p:nvSpPr>
        <p:spPr>
          <a:xfrm>
            <a:off x="731520" y="4709160"/>
            <a:ext cx="10698480" cy="1691640"/>
          </a:xfrm>
          <a:prstGeom prst="roundRect">
            <a:avLst/>
          </a:prstGeom>
          <a:solidFill>
            <a:srgbClr val="131B2E"/>
          </a:solidFill>
          <a:ln>
            <a:solidFill>
              <a:srgbClr val="2D3750"/>
            </a:solidFill>
          </a:ln>
        </p:spPr>
        <p:style>
          <a:lnRef idx="1">
            <a:schemeClr val="accent1"/>
          </a:lnRef>
          <a:fillRef idx="3">
            <a:schemeClr val="accent1"/>
          </a:fillRef>
          <a:effectRef idx="2">
            <a:schemeClr val="accent1"/>
          </a:effectRef>
          <a:fontRef idx="minor">
            <a:schemeClr val="lt1"/>
          </a:fontRef>
        </p:style>
        <p:txBody>
          <a:bodyPr wrap="square" lIns="182880" tIns="182880" rtlCol="0" anchor="ctr"/>
          <a:lstStyle/>
          <a:p>
            <a:pPr algn="ctr">
              <a:spcAft>
                <a:spcPts val="400"/>
              </a:spcAft>
              <a:defRPr sz="1200" b="1">
                <a:solidFill>
                  <a:srgbClr val="F8FAFC"/>
                </a:solidFill>
              </a:defRPr>
            </a:pPr>
            <a:r>
              <a:t>🔍 How We Fill It, Without Letting the AI Invent Anything</a:t>
            </a:r>
          </a:p>
          <a:p>
            <a:pPr>
              <a:defRPr sz="1100">
                <a:solidFill>
                  <a:srgbClr val="94A3B8"/>
                </a:solidFill>
              </a:defRPr>
            </a:pPr>
            <a:r>
              <a:t>1. A crawler browses the live site and records exactly what it sees.</a:t>
            </a:r>
            <a:br/>
            <a:r>
              <a:t>2. The AI organises that recording; anything the crawler never saw is thrown away.</a:t>
            </a:r>
            <a:br/>
            <a:r>
              <a:t>3. The result is saved as a draft, and a person approves it before it is used.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A0F1D"/>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400"/>
              </a:spcAft>
              <a:defRPr sz="1000" b="1">
                <a:solidFill>
                  <a:srgbClr val="06B6D4"/>
                </a:solidFill>
              </a:defRPr>
            </a:pPr>
            <a:r>
              <a:t>SLIDE 03 — HOW THE SYSTEM IS PUT TOGETHER</a:t>
            </a:r>
          </a:p>
          <a:p>
            <a:pPr>
              <a:spcAft>
                <a:spcPts val="200"/>
              </a:spcAft>
              <a:defRPr sz="2200" b="1">
                <a:solidFill>
                  <a:srgbClr val="F8FAFC"/>
                </a:solidFill>
              </a:defRPr>
            </a:pPr>
            <a:r>
              <a:t>Matching a Requirement to a Real Journey</a:t>
            </a:r>
          </a:p>
          <a:p>
            <a:pPr>
              <a:defRPr sz="1200">
                <a:solidFill>
                  <a:srgbClr val="94A3B8"/>
                </a:solidFill>
              </a:defRPr>
            </a:pPr>
            <a:r>
              <a:t>Three steps, all handled by fixed code — and a deliberate choice to stop rather than guess.</a:t>
            </a:r>
          </a:p>
        </p:txBody>
      </p:sp>
      <p:sp>
        <p:nvSpPr>
          <p:cNvPr id="3" name="Rounded Rectangle 2"/>
          <p:cNvSpPr/>
          <p:nvPr/>
        </p:nvSpPr>
        <p:spPr>
          <a:xfrm>
            <a:off x="731520" y="1554480"/>
            <a:ext cx="3383280" cy="3931920"/>
          </a:xfrm>
          <a:prstGeom prst="roundRect">
            <a:avLst/>
          </a:prstGeom>
          <a:solidFill>
            <a:srgbClr val="131B2E"/>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200"/>
              </a:spcAft>
              <a:defRPr sz="1000" b="1">
                <a:solidFill>
                  <a:srgbClr val="06B6D4"/>
                </a:solidFill>
              </a:defRPr>
            </a:pPr>
            <a:r>
              <a:t>STEP 1</a:t>
            </a:r>
          </a:p>
          <a:p>
            <a:pPr>
              <a:spcAft>
                <a:spcPts val="1000"/>
              </a:spcAft>
              <a:defRPr sz="1300" b="1">
                <a:solidFill>
                  <a:srgbClr val="F8FAFC"/>
                </a:solidFill>
              </a:defRPr>
            </a:pPr>
            <a:r>
              <a:t>Which Application?</a:t>
            </a:r>
          </a:p>
          <a:p>
            <a:pPr>
              <a:defRPr sz="1050">
                <a:solidFill>
                  <a:srgbClr val="94A3B8"/>
                </a:solidFill>
              </a:defRPr>
            </a:pPr>
            <a:r>
              <a:t>We only decide when the clue points to one application and nothing else.</a:t>
            </a:r>
            <a:br/>
            <a:br/>
            <a:r>
              <a:t>Consumer and business share the same domain, so we look for the detail that separates them. If there is not one, we do not choose.</a:t>
            </a:r>
          </a:p>
        </p:txBody>
      </p:sp>
      <p:sp>
        <p:nvSpPr>
          <p:cNvPr id="4" name="Rounded Rectangle 3"/>
          <p:cNvSpPr/>
          <p:nvPr/>
        </p:nvSpPr>
        <p:spPr>
          <a:xfrm>
            <a:off x="4389120" y="1554480"/>
            <a:ext cx="3383280" cy="3931920"/>
          </a:xfrm>
          <a:prstGeom prst="roundRect">
            <a:avLst/>
          </a:prstGeom>
          <a:solidFill>
            <a:srgbClr val="131B2E"/>
          </a:solidFill>
          <a:ln w="19050">
            <a:solidFill>
              <a:srgbClr val="815AF6"/>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200"/>
              </a:spcAft>
              <a:defRPr sz="1000" b="1">
                <a:solidFill>
                  <a:srgbClr val="815AF6"/>
                </a:solidFill>
              </a:defRPr>
            </a:pPr>
            <a:r>
              <a:t>STEP 2</a:t>
            </a:r>
          </a:p>
          <a:p>
            <a:pPr>
              <a:spcAft>
                <a:spcPts val="1000"/>
              </a:spcAft>
              <a:defRPr sz="1300" b="1">
                <a:solidFill>
                  <a:srgbClr val="F8FAFC"/>
                </a:solidFill>
              </a:defRPr>
            </a:pPr>
            <a:r>
              <a:t>Which Journey?</a:t>
            </a:r>
          </a:p>
          <a:p>
            <a:pPr>
              <a:defRPr sz="1050">
                <a:solidFill>
                  <a:srgbClr val="94A3B8"/>
                </a:solidFill>
              </a:defRPr>
            </a:pPr>
            <a:r>
              <a:t>Every journey is scored against the requirement:</a:t>
            </a:r>
            <a:br/>
            <a:br/>
            <a:r>
              <a:t>• Exact product match: +20 pts</a:t>
            </a:r>
            <a:br/>
            <a:r>
              <a:t>• Category words: +6 pts</a:t>
            </a:r>
            <a:br/>
            <a:r>
              <a:t>• Matching phrases: +4 pts each</a:t>
            </a:r>
            <a:br/>
            <a:br/>
            <a:r>
              <a:t>Highest score wins. No guessing.</a:t>
            </a:r>
          </a:p>
        </p:txBody>
      </p:sp>
      <p:sp>
        <p:nvSpPr>
          <p:cNvPr id="5" name="Rounded Rectangle 4"/>
          <p:cNvSpPr/>
          <p:nvPr/>
        </p:nvSpPr>
        <p:spPr>
          <a:xfrm>
            <a:off x="8046720" y="1554480"/>
            <a:ext cx="3383280" cy="3931920"/>
          </a:xfrm>
          <a:prstGeom prst="roundRect">
            <a:avLst/>
          </a:prstGeom>
          <a:solidFill>
            <a:srgbClr val="131B2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200"/>
              </a:spcAft>
              <a:defRPr sz="1000" b="1">
                <a:solidFill>
                  <a:srgbClr val="10B981"/>
                </a:solidFill>
              </a:defRPr>
            </a:pPr>
            <a:r>
              <a:t>STEP 3</a:t>
            </a:r>
          </a:p>
          <a:p>
            <a:pPr>
              <a:spcAft>
                <a:spcPts val="1000"/>
              </a:spcAft>
              <a:defRPr sz="1300" b="1">
                <a:solidFill>
                  <a:srgbClr val="F8FAFC"/>
                </a:solidFill>
              </a:defRPr>
            </a:pPr>
            <a:r>
              <a:t>Which Page, at Each Step?</a:t>
            </a:r>
          </a:p>
          <a:p>
            <a:pPr>
              <a:defRPr sz="1050">
                <a:solidFill>
                  <a:srgbClr val="94A3B8"/>
                </a:solidFill>
              </a:defRPr>
            </a:pPr>
            <a:r>
              <a:t>We work down a chain until something matches:</a:t>
            </a:r>
            <a:br/>
            <a:br/>
            <a:r>
              <a:t>1. A specific page address</a:t>
            </a:r>
            <a:br/>
            <a:r>
              <a:t>2. The standard journey step</a:t>
            </a:r>
            <a:br/>
            <a:r>
              <a:t>3. The application’s matching rules</a:t>
            </a:r>
            <a:br/>
            <a:br/>
            <a:r>
              <a:t>Then we fill in the real values (SKU, colour, plan).</a:t>
            </a:r>
          </a:p>
        </p:txBody>
      </p:sp>
      <p:sp>
        <p:nvSpPr>
          <p:cNvPr id="6" name="Rounded Rectangle 5"/>
          <p:cNvSpPr/>
          <p:nvPr/>
        </p:nvSpPr>
        <p:spPr>
          <a:xfrm>
            <a:off x="731520" y="5623560"/>
            <a:ext cx="10698480" cy="777240"/>
          </a:xfrm>
          <a:prstGeom prst="roundRect">
            <a:avLst/>
          </a:prstGeom>
          <a:solidFill>
            <a:srgbClr val="281914"/>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200" b="1">
                <a:solidFill>
                  <a:srgbClr val="FED7AA"/>
                </a:solidFill>
              </a:defRPr>
            </a:pPr>
            <a:r>
              <a:t>🛑 Stopping is by design: if nothing scores well enough, we bind nothing. We would rather do less and be right.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A0F1D"/>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400"/>
              </a:spcAft>
              <a:defRPr sz="1000" b="1">
                <a:solidFill>
                  <a:srgbClr val="06B6D4"/>
                </a:solidFill>
              </a:defRPr>
            </a:pPr>
            <a:r>
              <a:t>SLIDE 04 — HOW THE SYSTEM IS PUT TOGETHER</a:t>
            </a:r>
          </a:p>
          <a:p>
            <a:pPr>
              <a:spcAft>
                <a:spcPts val="200"/>
              </a:spcAft>
              <a:defRPr sz="2200" b="1">
                <a:solidFill>
                  <a:srgbClr val="F8FAFC"/>
                </a:solidFill>
              </a:defRPr>
            </a:pPr>
            <a:r>
              <a:t>Building the Script: Mostly Fixed Code, One AI Gap-Fill</a:t>
            </a:r>
          </a:p>
          <a:p>
            <a:pPr>
              <a:defRPr sz="1200">
                <a:solidFill>
                  <a:srgbClr val="94A3B8"/>
                </a:solidFill>
              </a:defRPr>
            </a:pPr>
            <a:r>
              <a:t>To click something we need to know how to find it. Four sources, best first.</a:t>
            </a:r>
          </a:p>
        </p:txBody>
      </p:sp>
      <p:sp>
        <p:nvSpPr>
          <p:cNvPr id="3" name="Rounded Rectangle 2"/>
          <p:cNvSpPr/>
          <p:nvPr/>
        </p:nvSpPr>
        <p:spPr>
          <a:xfrm>
            <a:off x="731520" y="1554480"/>
            <a:ext cx="5943600" cy="822960"/>
          </a:xfrm>
          <a:prstGeom prst="roundRect">
            <a:avLst/>
          </a:prstGeom>
          <a:solidFill>
            <a:srgbClr val="131B2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defRPr sz="1100" b="1">
                <a:solidFill>
                  <a:srgbClr val="F8FAFC"/>
                </a:solidFill>
              </a:defRPr>
            </a:pPr>
            <a:r>
              <a:t>Source 1: Recorded — captured from a real user session</a:t>
            </a:r>
          </a:p>
          <a:p>
            <a:pPr>
              <a:defRPr sz="950">
                <a:solidFill>
                  <a:srgbClr val="10B981"/>
                </a:solidFill>
              </a:defRPr>
            </a:pPr>
            <a:r>
              <a:t>✔ A fact — no AI is allowed to change it</a:t>
            </a:r>
          </a:p>
        </p:txBody>
      </p:sp>
      <p:sp>
        <p:nvSpPr>
          <p:cNvPr id="4" name="Rounded Rectangle 3"/>
          <p:cNvSpPr/>
          <p:nvPr/>
        </p:nvSpPr>
        <p:spPr>
          <a:xfrm>
            <a:off x="731520" y="2514600"/>
            <a:ext cx="5943600" cy="822960"/>
          </a:xfrm>
          <a:prstGeom prst="roundRect">
            <a:avLst/>
          </a:prstGeom>
          <a:solidFill>
            <a:srgbClr val="131B2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defRPr sz="1100" b="1">
                <a:solidFill>
                  <a:srgbClr val="F8FAFC"/>
                </a:solidFill>
              </a:defRPr>
            </a:pPr>
            <a:r>
              <a:t>Source 2: Seen — found by the crawler on the live site</a:t>
            </a:r>
          </a:p>
          <a:p>
            <a:pPr>
              <a:defRPr sz="950">
                <a:solidFill>
                  <a:srgbClr val="10B981"/>
                </a:solidFill>
              </a:defRPr>
            </a:pPr>
            <a:r>
              <a:t>✔ A fact — verified against the real application</a:t>
            </a:r>
          </a:p>
        </p:txBody>
      </p:sp>
      <p:sp>
        <p:nvSpPr>
          <p:cNvPr id="5" name="Rounded Rectangle 4"/>
          <p:cNvSpPr/>
          <p:nvPr/>
        </p:nvSpPr>
        <p:spPr>
          <a:xfrm>
            <a:off x="731520" y="3474720"/>
            <a:ext cx="5943600" cy="822960"/>
          </a:xfrm>
          <a:prstGeom prst="roundRect">
            <a:avLst/>
          </a:prstGeom>
          <a:solidFill>
            <a:srgbClr val="131B2E"/>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defRPr sz="1100" b="1">
                <a:solidFill>
                  <a:srgbClr val="F8FAFC"/>
                </a:solidFill>
              </a:defRPr>
            </a:pPr>
            <a:r>
              <a:t>Source 3: Known — held in the knowledge base</a:t>
            </a:r>
          </a:p>
          <a:p>
            <a:pPr>
              <a:defRPr sz="950">
                <a:solidFill>
                  <a:srgbClr val="06B6D4"/>
                </a:solidFill>
              </a:defRPr>
            </a:pPr>
            <a:r>
              <a:t>✔ A checked fact — validated against our schema</a:t>
            </a:r>
          </a:p>
        </p:txBody>
      </p:sp>
      <p:sp>
        <p:nvSpPr>
          <p:cNvPr id="6" name="Rounded Rectangle 5"/>
          <p:cNvSpPr/>
          <p:nvPr/>
        </p:nvSpPr>
        <p:spPr>
          <a:xfrm>
            <a:off x="731520" y="4434840"/>
            <a:ext cx="5943600" cy="822960"/>
          </a:xfrm>
          <a:prstGeom prst="roundRect">
            <a:avLst/>
          </a:prstGeom>
          <a:solidFill>
            <a:srgbClr val="131B2E"/>
          </a:solidFill>
          <a:ln w="19050">
            <a:solidFill>
              <a:srgbClr val="F59E0B"/>
            </a:solidFill>
          </a:ln>
        </p:spPr>
        <p:style>
          <a:lnRef idx="1">
            <a:schemeClr val="accent1"/>
          </a:lnRef>
          <a:fillRef idx="3">
            <a:schemeClr val="accent1"/>
          </a:fillRef>
          <a:effectRef idx="2">
            <a:schemeClr val="accent1"/>
          </a:effectRef>
          <a:fontRef idx="minor">
            <a:schemeClr val="lt1"/>
          </a:fontRef>
        </p:style>
        <p:txBody>
          <a:bodyPr wrap="square" lIns="182880" rtlCol="0" anchor="ctr"/>
          <a:lstStyle/>
          <a:p>
            <a:pPr algn="ctr">
              <a:defRPr sz="1100" b="1">
                <a:solidFill>
                  <a:srgbClr val="F8FAFC"/>
                </a:solidFill>
              </a:defRPr>
            </a:pPr>
            <a:r>
              <a:t>Source 4: Guessed — the only place AI is allowed to work</a:t>
            </a:r>
          </a:p>
          <a:p>
            <a:pPr>
              <a:defRPr sz="950">
                <a:solidFill>
                  <a:srgbClr val="F59E0B"/>
                </a:solidFill>
              </a:defRPr>
            </a:pPr>
            <a:r>
              <a:t>⚠ Marked as a guess — bounded, and always checked</a:t>
            </a:r>
          </a:p>
        </p:txBody>
      </p:sp>
      <p:sp>
        <p:nvSpPr>
          <p:cNvPr id="7" name="Rounded Rectangle 6"/>
          <p:cNvSpPr/>
          <p:nvPr/>
        </p:nvSpPr>
        <p:spPr>
          <a:xfrm>
            <a:off x="6858000" y="1554480"/>
            <a:ext cx="4572000" cy="4846320"/>
          </a:xfrm>
          <a:prstGeom prst="roundRect">
            <a:avLst/>
          </a:prstGeom>
          <a:solidFill>
            <a:srgbClr val="131B2E"/>
          </a:solidFill>
          <a:ln w="19050">
            <a:solidFill>
              <a:srgbClr val="815AF6"/>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300" b="1">
                <a:solidFill>
                  <a:srgbClr val="C084FC"/>
                </a:solidFill>
              </a:defRPr>
            </a:pPr>
            <a:r>
              <a:t>🎯 The Locator Resolution Agent, and Its Guardrails</a:t>
            </a:r>
          </a:p>
          <a:p>
            <a:pPr>
              <a:defRPr sz="1050">
                <a:solidFill>
                  <a:srgbClr val="94A3B8"/>
                </a:solidFill>
              </a:defRPr>
            </a:pPr>
            <a:r>
              <a:t>• Only the gaps: the builder flags what it had to guess; the AI resolves only those, then the normal code rebuilds the script.</a:t>
            </a:r>
            <a:br/>
            <a:br/>
            <a:r>
              <a:t>• Fixed answer format: the AI must reply in a strict structure, checked on arrival.</a:t>
            </a:r>
            <a:br/>
            <a:br/>
            <a:r>
              <a:t>• Allowed-patterns check: every answer is validated before it can become code — 25 deliberately bad inputs tried, none accepted.</a:t>
            </a:r>
            <a:br/>
            <a:br/>
            <a:r>
              <a:t>• Always a backup: if the AI fails or is unavailable, we keep the original guess and carry on.</a:t>
            </a:r>
            <a:br/>
            <a:br/>
            <a:r>
              <a:t>• Every script is checked for validity before it runs.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A0F1D"/>
        </a:solidFill>
        <a:effectLst/>
      </p:bgPr>
    </p:bg>
    <p:spTree>
      <p:nvGrpSpPr>
        <p:cNvPr id="1" name=""/>
        <p:cNvGrpSpPr/>
        <p:nvPr/>
      </p:nvGrpSpPr>
      <p:grpSpPr>
        <a:xfrm>
          <a:off x="0" y="0"/>
          <a:ext cx="0" cy="0"/>
          <a:chOff x="0" y="0"/>
          <a:chExt cx="0" cy="0"/>
        </a:xfrm>
      </p:grpSpPr>
      <p:sp>
        <p:nvSpPr>
          <p:cNvPr id="2" name="TextBox 1"/>
          <p:cNvSpPr txBox="1"/>
          <p:nvPr/>
        </p:nvSpPr>
        <p:spPr>
          <a:xfrm>
            <a:off x="731520" y="365760"/>
            <a:ext cx="10698480" cy="1005840"/>
          </a:xfrm>
          <a:prstGeom prst="rect">
            <a:avLst/>
          </a:prstGeom>
          <a:noFill/>
        </p:spPr>
        <p:txBody>
          <a:bodyPr wrap="square" lIns="0" tIns="0" rIns="0" bIns="0">
            <a:spAutoFit/>
          </a:bodyPr>
          <a:lstStyle/>
          <a:p>
            <a:pPr>
              <a:spcAft>
                <a:spcPts val="400"/>
              </a:spcAft>
              <a:defRPr sz="1000" b="1">
                <a:solidFill>
                  <a:srgbClr val="06B6D4"/>
                </a:solidFill>
              </a:defRPr>
            </a:pPr>
            <a:r>
              <a:t>SLIDE 05 — HOW THE SYSTEM IS PUT TOGETHER</a:t>
            </a:r>
          </a:p>
          <a:p>
            <a:pPr>
              <a:spcAft>
                <a:spcPts val="200"/>
              </a:spcAft>
              <a:defRPr sz="2200" b="1">
                <a:solidFill>
                  <a:srgbClr val="F8FAFC"/>
                </a:solidFill>
              </a:defRPr>
            </a:pPr>
            <a:r>
              <a:t>Tests That Repair Themselves, and What Is Next</a:t>
            </a:r>
          </a:p>
          <a:p>
            <a:pPr>
              <a:defRPr sz="1200">
                <a:solidFill>
                  <a:srgbClr val="94A3B8"/>
                </a:solidFill>
              </a:defRPr>
            </a:pPr>
            <a:r>
              <a:t>The system tries to fix the problem instead of just reporting it — with a safety net.</a:t>
            </a:r>
          </a:p>
        </p:txBody>
      </p:sp>
      <p:sp>
        <p:nvSpPr>
          <p:cNvPr id="3" name="Rounded Rectangle 2"/>
          <p:cNvSpPr/>
          <p:nvPr/>
        </p:nvSpPr>
        <p:spPr>
          <a:xfrm>
            <a:off x="731520" y="1554480"/>
            <a:ext cx="5212080" cy="4846320"/>
          </a:xfrm>
          <a:prstGeom prst="roundRect">
            <a:avLst/>
          </a:prstGeom>
          <a:solidFill>
            <a:srgbClr val="131B2E"/>
          </a:solidFill>
          <a:ln w="19050">
            <a:solidFill>
              <a:srgbClr val="10B981"/>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300" b="1">
                <a:solidFill>
                  <a:srgbClr val="10B981"/>
                </a:solidFill>
              </a:defRPr>
            </a:pPr>
            <a:r>
              <a:t>🔧 Tests That Repair Themselves</a:t>
            </a:r>
          </a:p>
          <a:p>
            <a:pPr>
              <a:defRPr sz="1050">
                <a:solidFill>
                  <a:srgbClr val="94A3B8"/>
                </a:solidFill>
              </a:defRPr>
            </a:pPr>
            <a:r>
              <a:t>• What it looks at: the error, the technical trace, a snapshot of the page, the journey from the knowledge base, and the elements the crawler found.</a:t>
            </a:r>
            <a:br/>
            <a:br/>
            <a:r>
              <a:t>• Two levels:</a:t>
            </a:r>
            <a:br/>
            <a:r>
              <a:t xml:space="preserve">   1. Fixed rules for problems we have seen before.</a:t>
            </a:r>
            <a:br/>
            <a:r>
              <a:t xml:space="preserve">   2. AI diagnosis for the unusual ones.</a:t>
            </a:r>
            <a:br/>
            <a:br/>
            <a:r>
              <a:t>• Safety net: every fix is re-checked before it runs. If it would break something, we throw it away and keep the original failure — which still gives us video, screenshots and a trace.</a:t>
            </a:r>
            <a:br/>
            <a:br/>
            <a:r>
              <a:t>• The rule: a bad fix is worse than no fix.</a:t>
            </a:r>
          </a:p>
        </p:txBody>
      </p:sp>
      <p:sp>
        <p:nvSpPr>
          <p:cNvPr id="4" name="Rounded Rectangle 3"/>
          <p:cNvSpPr/>
          <p:nvPr/>
        </p:nvSpPr>
        <p:spPr>
          <a:xfrm>
            <a:off x="6217920" y="1554480"/>
            <a:ext cx="5212080" cy="4846320"/>
          </a:xfrm>
          <a:prstGeom prst="roundRect">
            <a:avLst/>
          </a:prstGeom>
          <a:solidFill>
            <a:srgbClr val="131B2E"/>
          </a:solidFill>
          <a:ln w="19050">
            <a:solidFill>
              <a:srgbClr val="06B6D4"/>
            </a:solidFill>
          </a:ln>
        </p:spPr>
        <p:style>
          <a:lnRef idx="1">
            <a:schemeClr val="accent1"/>
          </a:lnRef>
          <a:fillRef idx="3">
            <a:schemeClr val="accent1"/>
          </a:fillRef>
          <a:effectRef idx="2">
            <a:schemeClr val="accent1"/>
          </a:effectRef>
          <a:fontRef idx="minor">
            <a:schemeClr val="lt1"/>
          </a:fontRef>
        </p:style>
        <p:txBody>
          <a:bodyPr wrap="square" lIns="228600" tIns="228600" rIns="228600" bIns="228600" rtlCol="0" anchor="ctr"/>
          <a:lstStyle/>
          <a:p>
            <a:pPr algn="ctr">
              <a:spcAft>
                <a:spcPts val="800"/>
              </a:spcAft>
              <a:defRPr sz="1300" b="1">
                <a:solidFill>
                  <a:srgbClr val="06B6D4"/>
                </a:solidFill>
              </a:defRPr>
            </a:pPr>
            <a:r>
              <a:t>🚀 What Is Next, and What We Have Measured</a:t>
            </a:r>
          </a:p>
          <a:p>
            <a:pPr>
              <a:defRPr sz="1050">
                <a:solidFill>
                  <a:srgbClr val="94A3B8"/>
                </a:solidFill>
              </a:defRPr>
            </a:pPr>
            <a:r>
              <a:t>What is next:</a:t>
            </a:r>
            <a:br/>
            <a:r>
              <a:t>• Automatic freshness checks on the knowledge base</a:t>
            </a:r>
            <a:br/>
            <a:r>
              <a:t>• Let the AI resolve more cases on dynamic pages</a:t>
            </a:r>
            <a:br/>
            <a:r>
              <a:t>• Run refinement jobs in parallel</a:t>
            </a:r>
            <a:br/>
            <a:r>
              <a:t>• Tell “the tool broke” apart from “the test found a bug”</a:t>
            </a:r>
            <a:br/>
            <a:endParaRPr/>
          </a:p>
          <a:p>
            <a:pPr>
              <a:defRPr sz="1100" b="1">
                <a:solidFill>
                  <a:srgbClr val="F8FAFC"/>
                </a:solidFill>
              </a:defRPr>
            </a:pPr>
            <a:r>
              <a:t>📈 Refinement Agent, measured side by side:</a:t>
            </a:r>
          </a:p>
          <a:p>
            <a:pPr>
              <a:defRPr sz="1050">
                <a:solidFill>
                  <a:srgbClr val="815AF6"/>
                </a:solidFill>
              </a:defRPr>
            </a:pPr>
            <a:r>
              <a:t>Turning plain English into precise instructions raised the checks the system can actually verify from 27% to 61% (controlled A/B over 32 test runs).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1601</Words>
  <Application>Microsoft Office PowerPoint</Application>
  <PresentationFormat>Widescreen</PresentationFormat>
  <Paragraphs>82</Paragraphs>
  <Slides>5</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5</vt:i4>
      </vt:variant>
    </vt:vector>
  </HeadingPairs>
  <TitlesOfParts>
    <vt:vector size="9"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Surya Banoth</cp:lastModifiedBy>
  <cp:revision>3</cp:revision>
  <dcterms:created xsi:type="dcterms:W3CDTF">2013-01-27T09:14:16Z</dcterms:created>
  <dcterms:modified xsi:type="dcterms:W3CDTF">2026-09-01T20:46:52Z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adedb8f-f6e8-473a-8eb6-5e84cba1f58e_Enabled">
    <vt:lpwstr>true</vt:lpwstr>
  </property>
  <property fmtid="{D5CDD505-2E9C-101B-9397-08002B2CF9AE}" pid="3" name="MSIP_Label_cadedb8f-f6e8-473a-8eb6-5e84cba1f58e_SetDate">
    <vt:lpwstr>2026-09-01T20:46:20Z</vt:lpwstr>
  </property>
  <property fmtid="{D5CDD505-2E9C-101B-9397-08002B2CF9AE}" pid="4" name="MSIP_Label_cadedb8f-f6e8-473a-8eb6-5e84cba1f58e_Method">
    <vt:lpwstr>Standard</vt:lpwstr>
  </property>
  <property fmtid="{D5CDD505-2E9C-101B-9397-08002B2CF9AE}" pid="5" name="MSIP_Label_cadedb8f-f6e8-473a-8eb6-5e84cba1f58e_Name">
    <vt:lpwstr>Internal</vt:lpwstr>
  </property>
  <property fmtid="{D5CDD505-2E9C-101B-9397-08002B2CF9AE}" pid="6" name="MSIP_Label_cadedb8f-f6e8-473a-8eb6-5e84cba1f58e_SiteId">
    <vt:lpwstr>956d0a5b-65df-40ee-b210-145b0e79eac8</vt:lpwstr>
  </property>
  <property fmtid="{D5CDD505-2E9C-101B-9397-08002B2CF9AE}" pid="7" name="MSIP_Label_cadedb8f-f6e8-473a-8eb6-5e84cba1f58e_ActionId">
    <vt:lpwstr>f858d647-2efc-4d69-812d-45a7021e135f</vt:lpwstr>
  </property>
  <property fmtid="{D5CDD505-2E9C-101B-9397-08002B2CF9AE}" pid="8" name="MSIP_Label_cadedb8f-f6e8-473a-8eb6-5e84cba1f58e_ContentBits">
    <vt:lpwstr>2</vt:lpwstr>
  </property>
  <property fmtid="{D5CDD505-2E9C-101B-9397-08002B2CF9AE}" pid="9" name="MSIP_Label_cadedb8f-f6e8-473a-8eb6-5e84cba1f58e_Tag">
    <vt:lpwstr>10, 3, 0, 1</vt:lpwstr>
  </property>
  <property fmtid="{D5CDD505-2E9C-101B-9397-08002B2CF9AE}" pid="10" name="ClassificationContentMarkingFooterLocations">
    <vt:lpwstr>Office Theme:8</vt:lpwstr>
  </property>
  <property fmtid="{D5CDD505-2E9C-101B-9397-08002B2CF9AE}" pid="11" name="ClassificationContentMarkingFooterText">
    <vt:lpwstr>Internal</vt:lpwstr>
  </property>
</Properties>
</file>